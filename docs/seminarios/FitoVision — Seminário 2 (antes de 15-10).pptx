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embeddedFontLst>
    <p:embeddedFont>
      <p:font typeface="IBM Plex Sans"/>
      <p:regular r:id="rId16"/>
      <p:bold r:id="rId17"/>
      <p:italic r:id="rId18"/>
      <p:boldItalic r:id="rId19"/>
    </p:embeddedFont>
    <p:embeddedFont>
      <p:font typeface="Source Serif 4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ir5K5w7NZEul48z2/zevVl6gO/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88A396D-4E6F-427E-80A6-FBB323577087}">
  <a:tblStyle styleId="{288A396D-4E6F-427E-80A6-FBB32357708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Serif4-regular.fntdata"/><Relationship Id="rId11" Type="http://schemas.openxmlformats.org/officeDocument/2006/relationships/slide" Target="slides/slide6.xml"/><Relationship Id="rId22" Type="http://schemas.openxmlformats.org/officeDocument/2006/relationships/font" Target="fonts/SourceSerif4-italic.fntdata"/><Relationship Id="rId10" Type="http://schemas.openxmlformats.org/officeDocument/2006/relationships/slide" Target="slides/slide5.xml"/><Relationship Id="rId21" Type="http://schemas.openxmlformats.org/officeDocument/2006/relationships/font" Target="fonts/SourceSerif4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SourceSerif4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BMPlexSans-bold.fntdata"/><Relationship Id="rId16" Type="http://schemas.openxmlformats.org/officeDocument/2006/relationships/font" Target="fonts/IBMPlex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BMPlexSans-boldItalic.fntdata"/><Relationship Id="rId6" Type="http://schemas.openxmlformats.org/officeDocument/2006/relationships/slide" Target="slides/slide1.xml"/><Relationship Id="rId18" Type="http://schemas.openxmlformats.org/officeDocument/2006/relationships/font" Target="fonts/IBMPlex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Abertura (15 s). Nome, orientador, e a frase do projeto: um sistema que olha a foto de uma folha e diz se ela está saudável ou com anomalia. O que eu estudo não é se isso funciona em laboratório, e sim quanto vale em campo.</a:t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Contexto em uma frase: 77% dos estabelecimentos rurais são agricultura familiar (IBGE, Censo 2017) e o diagnóstico ainda é visual e manual. A literatura reporta mais de 99% no PlantVillage, mas em imagens de estúdio. Contar a história dos três números, da esquerda para a direita: o 99,01% do TCC-I caiu quando a auditoria mostrou que 57,35% do teste era quase duplicata do treino. Refeito o split, 98,49% de acurácia balanceada, medidos em imagens das mesmas fontes do treino. Levado para horta real, 73,3% em 13 fotos (modelo do ciclo 3; o ciclo 4 aparece adiante). Fechar com a frase de baixo: essa é a questão de pesquisa, sem precisar de um slide só para ela. Em que medida o sistema, auditado e com calibração e abstenção, mantém desempenho confiável em fotos de campo.</a:t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o fluxo em 30 segundos: a foto entra, a guarda de vegetação (ExG) descarta o que não é folha, uma das três CNNs classifica em saudável ou anômalo, e a confiança calibrada por temperature scaling decide se o sistema responde ou se abstém. O ponto a destacar: o sistema pode dizer "não sei". Um sistema que erra com aparência de certeza passa confiança indevida ao produtor, por isso calibração e abstenção fazem parte do objeto de estudo. Dados: 170.772 imagens de seis fontes públicas, mais 4.351 de espinafre-de-malabar e alface com míldio incorporadas no ciclo 4. Vazamento residual no teste: 0,04%.</a:t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Ler o objetivo geral como está: avaliar desempenho e confiabilidade do sistema, com as arquiteturas EfficientNet-B0, MobileNetV2 e ResNet-50, quantificando com rigor estatístico a diferença entre laboratório e campo. Específicos, sem ler um a um: os três primeiros (dataset auditado, comparação de arquiteturas, calibração e abstenção) estão concluídos. Os três últimos dependem das fotos de campo em hortas comunitárias de Joinville: meta de 100 a 300 fotos, pelo menos 15 por cultura, em duas ou mais culturas além da alface. Se perguntarem: as fotos de campo nunca entram no treino, e o modelo do ciclo 4 foi congelado antes da coleta, então a avaliação é cega.</a:t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slide é o registro honesto do processo (40 s). Não ler linha a linha: dizer que foram quatro ciclos de treino, cerca de 80 horas de GPU, e que cada ciclo nasceu de um erro concreto. O padrão comum: nenhum desses erros aparecia nas métricas de laboratório. A acurácia ficou entre 97% e 98,6% o tempo todo. Quem denunciou foram dados de fora: fotos novas, as 13 fotos de horta, uma fonte que o modelo nunca tinha visto. A última linha é a mais recente e é a que muda a leitura do trabalho: eu vinha tratando o 98,5% como "em laboratório o sistema é confiável". O teste sai das mesmas seis fontes do treino, então ele mede acerto em fotos parecidas com as do treino. O próximo slide mostra isso em número. Se perguntarem por outros ajustes: pré-processamento diferente entre treino e inferência, augmentation de cor que apagava o sintoma, imagens corrompidas virando quadrado preto rotulado, comparação de campo com critérios diferentes de abstenção. Todos documentados em docs/CORRECOES_METODOLOGICAS.md.</a:t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20455f65057786f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h20455f65057786f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h20455f65057786f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é o achado central do seminário (45 s). Esquerda: o split é limpo de duplicatas, mas treino, validação e teste são fatias das mesmas seis fontes públicas. Cerca de 70% do treino e 72% do teste vêm de duas fontes derivadas do PlantVillage: folha isolada, fundo homogêneo, luz controlada. O teste confirma que o modelo aprendeu essas fontes. Centro: a medida mais sólida que tenho de fora das fontes. O modelo do ciclo 3 nunca tinha visto o dataset de espinafre-de-malabar. São fotos de estúdio também, folha isolada em fundo branco, e mesmo assim a acurácia balanceada caiu para 75,4% em 484 imagens (EfficientNet-B0; os outros dois ficaram em 74,3% e 77,6%). Ressalva: muda a fonte e a espécie ao mesmo tempo, então não dá para separar os dois efeitos. Direita: horta real, modelo do ciclo 4, 83,8% em 13 fotos. O intervalo de Wilson vai de 58% a 96%, então é um indício, ainda sem medida. Leitura: o modelo está amarrado à aparência dos dados de treino. A hipótese que explica a queda em horta é o fundo: quase todo o treino tem fundo limpo, e a horta tem terra, sombra e folhas sobrepostas. Essa parte ainda é hipótese; o teste direto está no último slide.</a:t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Ciclo 4 (setembro): incorporei espinafre-de-malabar e alface com míldio ao treino. No teste de espinafre o ganho foi de 9 a 13 pontos de acurácia balanceada, significativo nos três modelos. É o primeiro ganho do projeto que passa num teste de significância, e não custou nada no domínio antigo. Correção em relação à versão anterior deste slide: eu reportava 657 imagens e p de 10⁻¹³. Desses 657, 173 são recortes de apenas 5 fotos de míldio, e recortes da mesma foto não são observações independentes, o que infla o teste. Refiz a conta só com o espinafre (484 fotos independentes). O ganho continua significativo, com p mais modesto. O míldio fica como indicação: 5 fotos. Como ler o ganho: ele confirma o slide anterior. Quando a fonte entra no treino, o teste dessa fonte sobe. Isso mostra que dados da fonte certa funcionam, e não diz nada ainda sobre horta. À direita, o campo. As 13 fotos sobem de 73,3% para 83,8%, com p = 1,00: com N = 13 não dá para afirmar nada. E o ponto novo: no ciclo 4, as 13 fotos receberam confiança de 0,97 ou mais, inclusive as duas erradas (0,997 e 0,991), e o sistema não se absteve nenhuma vez. O limiar de abstenção foi calibrado na validação, que é da mesma distribuição do treino. Fora dela a confiança deixa de avisar. Ressalva se perguntarem: o espinafre é Basella alba (espinafre-de-malabar), não Spinacia oleracea.</a:t>
            </a:r>
            <a:endParaRPr/>
          </a:p>
        </p:txBody>
      </p:sp>
      <p:sp>
        <p:nvSpPr>
          <p:cNvPr id="158" name="Google Shape;15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Dizer com clareza que é uma conclusão parcial: a coleta de campo ainda não foi feita. Resposta até aqui à questão de pesquisa: o sistema mantém desempenho confiável em fotos parecidas com as do treino (98,49% de acurácia balanceada, sem vazamento). Fora delas, não posso afirmar que mantém. Em uma fonte nunca vista a queda foi de 23 pontos (N = 484); em horta, o ponto estimado é 15 pontos abaixo, com intervalo de mais de 35 pontos de largura (N = 13). Mudança em relação ao que eu vinha dizendo: a frase "em laboratório o sistema é confiável" era forte demais. O correto é "nas fontes de treino". Três pontos que se sustentam: (1) O protocolo de avaliação é auditável e derrubou os 99,01%, mas um teste limpo de duplicatas continua sendo um teste da mesma distribuição. (2) Calibração e abstenção funcionam na validação (ECE 0,003). Em campo, as duas fotos erradas saíram com 99% de confiança e nenhuma foi interceptada. A confiança precisa ser verificada no domínio de uso. (3) Dados da fonte certa geram ganho real e significativo. O que ainda não existe no treino é foto com fundo de horta, e é isso que a próxima etapa ataca.</a:t>
            </a:r>
            <a:endParaRPr/>
          </a:p>
        </p:txBody>
      </p:sp>
      <p:sp>
        <p:nvSpPr>
          <p:cNvPr id="177" name="Google Shape;17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Fechamento (30 s). O modelo do ciclo 4 está treinado e congelado; o que falta é campo. 1. Coleta: 100 a 300 fotos, mínimo de 15 por cultura, rótulo anotado na hora, antes de qualquer inferência. Novidade: separar as fotos por horta em dois conjuntos que nunca se misturam, um de avaliação e um de adaptação. Separar por horta, e não por foto, evita repetir o vazamento que já corrigi duas vezes. 2. Medição: primeiro o ciclo 4 congelado roda em tudo, às cegas. Com 100 fotos o intervalo de Wilson cai de mais de 35 para cerca de 15 pontos percentuais, o que já permite medir o domain gap. 3. Só depois, aproximar o treino do campo: usar o conjunto de adaptação e bases públicas com fundo real (por exemplo o PlantDoc) em um novo ciclo, e medir de novo no conjunto de avaliação. Junto, um teste direto da hipótese do fundo: avaliar as mesmas imagens com o fundo removido e com a folha removida, para ver de onde o modelo tira a decisão. A alinhar com o orientador: usar fotos de campo no treino muda a regra da Parcial I ("fotos de campo nunca treinam"). A proposta é manter a regra para o conjunto de avaliação e criar o de adaptação à parte. Possível extensão: um ViT exploratório no mesmo dataset. Agradecer e abrir para perguntas.</a:t>
            </a:r>
            <a:endParaRPr/>
          </a:p>
        </p:txBody>
      </p:sp>
      <p:sp>
        <p:nvSpPr>
          <p:cNvPr id="195" name="Google Shape;19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6F4EC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3600"/>
              <a:buFont typeface="Source Serif 4"/>
              <a:buNone/>
              <a:defRPr sz="3600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2241B"/>
              </a:buClr>
              <a:buSzPts val="1600"/>
              <a:buNone/>
              <a:defRPr sz="1600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C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3600"/>
              <a:buFont typeface="Source Serif 4"/>
              <a:buNone/>
              <a:defRPr b="0" i="0" sz="3600" u="none" cap="none" strike="noStrike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41B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812800" y="812800"/>
            <a:ext cx="6069584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A35E"/>
              </a:buClr>
              <a:buSzPts val="1200"/>
              <a:buFont typeface="IBM Plex Sans"/>
              <a:buNone/>
            </a:pPr>
            <a:r>
              <a:rPr b="1" i="0" lang="en-US" spc="150" sz="1200" u="none" cap="none" strike="noStrike">
                <a:solidFill>
                  <a:srgbClr val="F0A35E"/>
                </a:solidFill>
                <a:latin typeface="IBM Plex Sans"/>
                <a:ea typeface="IBM Plex Sans"/>
                <a:cs typeface="IBM Plex Sans"/>
                <a:sym typeface="IBM Plex Sans"/>
              </a:rPr>
              <a:t>SEMINÁRIO 2 · TCC-II · ENGENHARIA DE SOFTWARE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12800" y="1720425"/>
            <a:ext cx="5777100" cy="3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6CC"/>
              </a:buClr>
              <a:buSzPts val="1600"/>
              <a:buFont typeface="IBM Plex Sans"/>
              <a:buNone/>
            </a:pPr>
            <a:r>
              <a:rPr b="1" i="0" lang="en-US" sz="3100" u="none" cap="none" strike="noStrike">
                <a:solidFill>
                  <a:srgbClr val="C9D6CC"/>
                </a:solidFill>
                <a:latin typeface="IBM Plex Sans"/>
                <a:ea typeface="IBM Plex Sans"/>
                <a:cs typeface="IBM Plex Sans"/>
                <a:sym typeface="IBM Plex Sans"/>
              </a:rPr>
              <a:t>Detecção de anomalias fitossanitárias em hortaliças utilizando visão computacional e aprendizado de máquina</a:t>
            </a:r>
            <a:endParaRPr b="1" i="0" sz="3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12800" y="5516880"/>
            <a:ext cx="6069584" cy="28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6F4EC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F6F4EC"/>
                </a:solidFill>
                <a:latin typeface="IBM Plex Sans"/>
                <a:ea typeface="IBM Plex Sans"/>
                <a:cs typeface="IBM Plex Sans"/>
                <a:sym typeface="IBM Plex Sans"/>
              </a:rPr>
              <a:t>José Pedro Vieira Silva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12800" y="5831840"/>
            <a:ext cx="6069584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6CC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C9D6CC"/>
                </a:solidFill>
                <a:latin typeface="IBM Plex Sans"/>
                <a:ea typeface="IBM Plex Sans"/>
                <a:cs typeface="IBM Plex Sans"/>
                <a:sym typeface="IBM Plex Sans"/>
              </a:rPr>
              <a:t>Orientador: Prof. Leanderson André · Univille · 08/10/2026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Pé de alface saudável fotografado em canteiro, sobre solo" id="25" name="Google Shape;25;p1"/>
          <p:cNvPicPr preferRelativeResize="0"/>
          <p:nvPr/>
        </p:nvPicPr>
        <p:blipFill rotWithShape="1">
          <a:blip r:embed="rId3">
            <a:alphaModFix/>
          </a:blip>
          <a:srcRect b="0" l="19297" r="19297" t="0"/>
          <a:stretch/>
        </p:blipFill>
        <p:spPr>
          <a:xfrm>
            <a:off x="7112000" y="812800"/>
            <a:ext cx="4267200" cy="5232400"/>
          </a:xfrm>
          <a:prstGeom prst="roundRect">
            <a:avLst>
              <a:gd fmla="val 357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C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3600"/>
              <a:buFont typeface="Source Serif 4"/>
              <a:buNone/>
            </a:pPr>
            <a:r>
              <a:rPr b="1" i="0" lang="en-US" sz="3600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Do laboratório ao campo</a:t>
            </a:r>
            <a:endParaRPr sz="3600"/>
          </a:p>
        </p:txBody>
      </p:sp>
      <p:sp>
        <p:nvSpPr>
          <p:cNvPr id="32" name="Google Shape;32;p2"/>
          <p:cNvSpPr/>
          <p:nvPr/>
        </p:nvSpPr>
        <p:spPr>
          <a:xfrm>
            <a:off x="815975" y="2117725"/>
            <a:ext cx="3380264" cy="2223770"/>
          </a:xfrm>
          <a:prstGeom prst="roundRect">
            <a:avLst>
              <a:gd fmla="val 4426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1071880" y="2373630"/>
            <a:ext cx="2954507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7B857E"/>
              </a:buClr>
              <a:buSzPts val="6000"/>
              <a:buFont typeface="Source Serif 4"/>
              <a:buNone/>
            </a:pPr>
            <a:r>
              <a:rPr b="1" i="0" lang="en-US" sz="6000" u="none" cap="none" strike="sngStrike">
                <a:solidFill>
                  <a:srgbClr val="7B857E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99,01%</a:t>
            </a:r>
            <a:endParaRPr b="0" i="0" sz="6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071880" y="3313430"/>
            <a:ext cx="2954507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Resultado inicial, invalidado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071880" y="3658870"/>
            <a:ext cx="2954507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57,35% do teste repetia fotos quase idênticas às do treino.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405789" y="2117725"/>
            <a:ext cx="3380343" cy="2223770"/>
          </a:xfrm>
          <a:prstGeom prst="roundRect">
            <a:avLst>
              <a:gd fmla="val 4426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661694" y="2373630"/>
            <a:ext cx="2954589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F6B47"/>
              </a:buClr>
              <a:buSzPts val="6000"/>
              <a:buFont typeface="Source Serif 4"/>
              <a:buNone/>
            </a:pPr>
            <a:r>
              <a:rPr b="1" i="0" lang="en-US" sz="6000" u="none" cap="none" strike="noStrike">
                <a:solidFill>
                  <a:srgbClr val="2F6B47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98,49%</a:t>
            </a:r>
            <a:endParaRPr b="0" i="0" sz="6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661694" y="3313430"/>
            <a:ext cx="2954589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Teste sem vazamento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661694" y="3658870"/>
            <a:ext cx="2954589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Acurácia balanceada com split por hash perceptual, nas mesmas fontes do treino.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995682" y="2117725"/>
            <a:ext cx="3380343" cy="2223770"/>
          </a:xfrm>
          <a:prstGeom prst="roundRect">
            <a:avLst>
              <a:gd fmla="val 4426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8251587" y="2373630"/>
            <a:ext cx="2954589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6000"/>
              <a:buFont typeface="Source Serif 4"/>
              <a:buNone/>
            </a:pPr>
            <a:r>
              <a:rPr b="1" i="0" lang="en-US" sz="6000" u="none" cap="none" strike="noStrike">
                <a:solidFill>
                  <a:srgbClr val="A84D14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73,3%</a:t>
            </a:r>
            <a:endParaRPr b="0" i="0" sz="6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251587" y="3313430"/>
            <a:ext cx="2954589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Horta real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251587" y="3658870"/>
            <a:ext cx="2954589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Mesmo modelo, em </a:t>
            </a:r>
            <a:r>
              <a:rPr lang="en-US" sz="1200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5</a:t>
            </a: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3 fotos de alface tiradas em campo</a:t>
            </a:r>
            <a:r>
              <a:rPr lang="en-US" sz="1200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12800" y="5143500"/>
            <a:ext cx="1088339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2200"/>
              <a:buFont typeface="Source Serif 4"/>
              <a:buNone/>
            </a:pPr>
            <a:r>
              <a:rPr b="0" i="0" lang="en-US" sz="2200" u="none" cap="none" strike="noStrike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pergunta deixa de ser se a rede classifica folhas e passa a ser quanto o sistema vale em uso real.</a:t>
            </a:r>
            <a:endParaRPr b="0" i="0" sz="2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12800" y="6238241"/>
            <a:ext cx="1934146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FitoVision · Seminário 2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1236960" y="6238241"/>
            <a:ext cx="14224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C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3600"/>
              <a:buFont typeface="Source Serif 4"/>
              <a:buNone/>
            </a:pPr>
            <a:r>
              <a:rPr b="1" i="0" lang="en-US" sz="3600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sistema em estudo</a:t>
            </a:r>
            <a:endParaRPr sz="3600"/>
          </a:p>
        </p:txBody>
      </p:sp>
      <p:sp>
        <p:nvSpPr>
          <p:cNvPr id="53" name="Google Shape;53;p3"/>
          <p:cNvSpPr/>
          <p:nvPr/>
        </p:nvSpPr>
        <p:spPr>
          <a:xfrm>
            <a:off x="815975" y="1804908"/>
            <a:ext cx="2254250" cy="1690370"/>
          </a:xfrm>
          <a:prstGeom prst="roundRect">
            <a:avLst>
              <a:gd fmla="val 5823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1021080" y="2010014"/>
            <a:ext cx="1899361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021080" y="2299573"/>
            <a:ext cx="1899361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Foto da folha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1021080" y="2619614"/>
            <a:ext cx="1899361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Celular, luz natural, sem preparar a cena.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connector" id="57" name="Google Shape;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000" y="2599294"/>
            <a:ext cx="3048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/>
          <p:nvPr/>
        </p:nvSpPr>
        <p:spPr>
          <a:xfrm>
            <a:off x="3584575" y="1804908"/>
            <a:ext cx="2254250" cy="1690370"/>
          </a:xfrm>
          <a:prstGeom prst="roundRect">
            <a:avLst>
              <a:gd fmla="val 5823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3789680" y="2010014"/>
            <a:ext cx="1899361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789680" y="2299573"/>
            <a:ext cx="1899361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Guarda de vegetação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789680" y="2863453"/>
            <a:ext cx="1899361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Índice rejeita imagens sem folha.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connector" id="62" name="Google Shape;6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2599294"/>
            <a:ext cx="3048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/>
          <p:nvPr/>
        </p:nvSpPr>
        <p:spPr>
          <a:xfrm>
            <a:off x="6353175" y="1804908"/>
            <a:ext cx="2254250" cy="1690370"/>
          </a:xfrm>
          <a:prstGeom prst="roundRect">
            <a:avLst>
              <a:gd fmla="val 5823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558280" y="2010014"/>
            <a:ext cx="1899361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558280" y="2299573"/>
            <a:ext cx="1899361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CNN com transfer learning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558280" y="2863453"/>
            <a:ext cx="1899361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EfficientNet-B0, MobileNetV2 e ResNet-50.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connector"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12200" y="2599294"/>
            <a:ext cx="304800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/>
          <p:nvPr/>
        </p:nvSpPr>
        <p:spPr>
          <a:xfrm>
            <a:off x="9121775" y="1804908"/>
            <a:ext cx="2254250" cy="1690370"/>
          </a:xfrm>
          <a:prstGeom prst="roundRect">
            <a:avLst>
              <a:gd fmla="val 5823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9326880" y="2010014"/>
            <a:ext cx="1899361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9326880" y="2299573"/>
            <a:ext cx="1899361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Confiança calibrada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9326880" y="2863453"/>
            <a:ext cx="1899361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Abaixo do limiar, o sistema </a:t>
            </a:r>
            <a:r>
              <a:rPr lang="en-US" sz="1200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rejeita.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12800" y="3984388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200"/>
              <a:buFont typeface="IBM Plex Sans"/>
              <a:buNone/>
            </a:pPr>
            <a:r>
              <a:rPr b="1" i="0" lang="en-US" spc="150" sz="12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QUATRO VEREDICTOS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812800" y="4299347"/>
            <a:ext cx="1275239" cy="487680"/>
          </a:xfrm>
          <a:prstGeom prst="roundRect">
            <a:avLst>
              <a:gd fmla="val 50000" name="adj"/>
            </a:avLst>
          </a:prstGeom>
          <a:solidFill>
            <a:srgbClr val="DCEBD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4A30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D4A30"/>
                </a:solidFill>
                <a:latin typeface="IBM Plex Sans"/>
                <a:ea typeface="IBM Plex Sans"/>
                <a:cs typeface="IBM Plex Sans"/>
                <a:sym typeface="IBM Plex Sans"/>
              </a:rPr>
              <a:t>Saudável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2189639" y="4299347"/>
            <a:ext cx="1245076" cy="487680"/>
          </a:xfrm>
          <a:prstGeom prst="roundRect">
            <a:avLst>
              <a:gd fmla="val 50000" name="adj"/>
            </a:avLst>
          </a:prstGeom>
          <a:solidFill>
            <a:srgbClr val="F6DCC8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3409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7A3409"/>
                </a:solidFill>
                <a:latin typeface="IBM Plex Sans"/>
                <a:ea typeface="IBM Plex Sans"/>
                <a:cs typeface="IBM Plex Sans"/>
                <a:sym typeface="IBM Plex Sans"/>
              </a:rPr>
              <a:t>Anômalo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536315" y="4299347"/>
            <a:ext cx="1608931" cy="487680"/>
          </a:xfrm>
          <a:prstGeom prst="roundRect">
            <a:avLst>
              <a:gd fmla="val 50000" name="adj"/>
            </a:avLst>
          </a:prstGeom>
          <a:solidFill>
            <a:srgbClr val="E6E3D6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Inconclusivo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246846" y="4299347"/>
            <a:ext cx="1467326" cy="487680"/>
          </a:xfrm>
          <a:prstGeom prst="roundRect">
            <a:avLst>
              <a:gd fmla="val 50000" name="adj"/>
            </a:avLst>
          </a:prstGeom>
          <a:solidFill>
            <a:srgbClr val="E6E3D6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Não é folha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12800" y="5273041"/>
            <a:ext cx="1088339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600"/>
              <a:buFont typeface="IBM Plex Sans"/>
              <a:buNone/>
            </a:pPr>
            <a:r>
              <a:rPr b="0" i="0" lang="en-US" sz="16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Treinado com cerca de 175 mil imagens públicas, deduplicadas por hash perceptual e particionadas em grupos para não vazar entre treino e teste.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812800" y="6238241"/>
            <a:ext cx="1934146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FitoVision · Seminário 2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1236960" y="6238241"/>
            <a:ext cx="14224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C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3600"/>
              <a:buFont typeface="Source Serif 4"/>
              <a:buNone/>
            </a:pPr>
            <a:r>
              <a:rPr b="1" i="0" lang="en-US" sz="3600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Objetivo</a:t>
            </a:r>
            <a:endParaRPr sz="3600"/>
          </a:p>
        </p:txBody>
      </p:sp>
      <p:sp>
        <p:nvSpPr>
          <p:cNvPr id="86" name="Google Shape;86;p4"/>
          <p:cNvSpPr/>
          <p:nvPr/>
        </p:nvSpPr>
        <p:spPr>
          <a:xfrm>
            <a:off x="812800" y="1620520"/>
            <a:ext cx="39243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200"/>
              <a:buFont typeface="IBM Plex Sans"/>
              <a:buNone/>
            </a:pPr>
            <a:r>
              <a:rPr b="1" i="0" lang="en-US" spc="150" sz="12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GERAL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812800" y="1986280"/>
            <a:ext cx="3924300" cy="177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2200"/>
              <a:buFont typeface="Source Serif 4"/>
              <a:buNone/>
            </a:pPr>
            <a:r>
              <a:rPr b="0" i="0" lang="en-US" sz="2200" u="none" cap="none" strike="noStrike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Avaliar o desempenho e a confiabilidade do sistema, quantificando com rigor estatístico a diferença entre laboratório e campo.</a:t>
            </a:r>
            <a:endParaRPr b="0" i="0" sz="2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130800" y="1620520"/>
            <a:ext cx="6435852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200"/>
              <a:buFont typeface="IBM Plex Sans"/>
              <a:buNone/>
            </a:pPr>
            <a:r>
              <a:rPr b="1" i="0" lang="en-US" spc="150" sz="12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ESPECÍFICOS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89" name="Google Shape;89;p4"/>
          <p:cNvCxnSpPr/>
          <p:nvPr/>
        </p:nvCxnSpPr>
        <p:spPr>
          <a:xfrm>
            <a:off x="5130800" y="1989455"/>
            <a:ext cx="6248400" cy="0"/>
          </a:xfrm>
          <a:prstGeom prst="straightConnector1">
            <a:avLst/>
          </a:prstGeom>
          <a:noFill/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4"/>
          <p:cNvSpPr/>
          <p:nvPr/>
        </p:nvSpPr>
        <p:spPr>
          <a:xfrm>
            <a:off x="5130800" y="2092961"/>
            <a:ext cx="304800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6B47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2F6B47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537200" y="2103120"/>
            <a:ext cx="4225163" cy="28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0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Dataset auditado, sem vazamento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9740900" y="2128520"/>
            <a:ext cx="16383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6B47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2F6B47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Concluído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93" name="Google Shape;93;p4"/>
          <p:cNvCxnSpPr/>
          <p:nvPr/>
        </p:nvCxnSpPr>
        <p:spPr>
          <a:xfrm>
            <a:off x="5130800" y="2482216"/>
            <a:ext cx="6248400" cy="0"/>
          </a:xfrm>
          <a:prstGeom prst="straightConnector1">
            <a:avLst/>
          </a:prstGeom>
          <a:noFill/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4"/>
          <p:cNvSpPr/>
          <p:nvPr/>
        </p:nvSpPr>
        <p:spPr>
          <a:xfrm>
            <a:off x="5130800" y="2585720"/>
            <a:ext cx="304800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6B47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2F6B47"/>
                </a:solidFill>
                <a:latin typeface="IBM Plex Sans"/>
                <a:ea typeface="IBM Plex Sans"/>
                <a:cs typeface="IBM Plex Sans"/>
                <a:sym typeface="IBM Plex Sans"/>
              </a:rPr>
              <a:t>b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537200" y="2595880"/>
            <a:ext cx="4225163" cy="28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0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Comparar as três arquiteturas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9740900" y="2621280"/>
            <a:ext cx="16383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6B47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2F6B47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Concluído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97" name="Google Shape;97;p4"/>
          <p:cNvCxnSpPr/>
          <p:nvPr/>
        </p:nvCxnSpPr>
        <p:spPr>
          <a:xfrm>
            <a:off x="5130800" y="2974975"/>
            <a:ext cx="6248400" cy="0"/>
          </a:xfrm>
          <a:prstGeom prst="straightConnector1">
            <a:avLst/>
          </a:prstGeom>
          <a:noFill/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4"/>
          <p:cNvSpPr/>
          <p:nvPr/>
        </p:nvSpPr>
        <p:spPr>
          <a:xfrm>
            <a:off x="5130800" y="3078480"/>
            <a:ext cx="304800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6B47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2F6B47"/>
                </a:solidFill>
                <a:latin typeface="IBM Plex Sans"/>
                <a:ea typeface="IBM Plex Sans"/>
                <a:cs typeface="IBM Plex Sans"/>
                <a:sym typeface="IBM Plex Sans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537200" y="3088641"/>
            <a:ext cx="4225163" cy="28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0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Avaliar calibração e abstenção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9740900" y="3114041"/>
            <a:ext cx="16383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6B47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2F6B47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Concluído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01" name="Google Shape;101;p4"/>
          <p:cNvCxnSpPr/>
          <p:nvPr/>
        </p:nvCxnSpPr>
        <p:spPr>
          <a:xfrm>
            <a:off x="5130800" y="3467736"/>
            <a:ext cx="6248400" cy="0"/>
          </a:xfrm>
          <a:prstGeom prst="straightConnector1">
            <a:avLst/>
          </a:prstGeom>
          <a:noFill/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4"/>
          <p:cNvSpPr/>
          <p:nvPr/>
        </p:nvSpPr>
        <p:spPr>
          <a:xfrm>
            <a:off x="5130800" y="3571241"/>
            <a:ext cx="304800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d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537200" y="3581400"/>
            <a:ext cx="4225163" cy="28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0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Montar o conjunto de campo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9740900" y="3606800"/>
            <a:ext cx="16383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Em coleta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05" name="Google Shape;105;p4"/>
          <p:cNvCxnSpPr/>
          <p:nvPr/>
        </p:nvCxnSpPr>
        <p:spPr>
          <a:xfrm>
            <a:off x="5130800" y="3960495"/>
            <a:ext cx="6248400" cy="0"/>
          </a:xfrm>
          <a:prstGeom prst="straightConnector1">
            <a:avLst/>
          </a:prstGeom>
          <a:noFill/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4"/>
          <p:cNvSpPr/>
          <p:nvPr/>
        </p:nvSpPr>
        <p:spPr>
          <a:xfrm>
            <a:off x="5130800" y="4064000"/>
            <a:ext cx="304800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537200" y="4074161"/>
            <a:ext cx="4225163" cy="28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0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Quantificar o domain gap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9740900" y="4099561"/>
            <a:ext cx="16383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Depende da coleta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09" name="Google Shape;109;p4"/>
          <p:cNvCxnSpPr/>
          <p:nvPr/>
        </p:nvCxnSpPr>
        <p:spPr>
          <a:xfrm>
            <a:off x="5130800" y="4453255"/>
            <a:ext cx="6248400" cy="0"/>
          </a:xfrm>
          <a:prstGeom prst="straightConnector1">
            <a:avLst/>
          </a:prstGeom>
          <a:noFill/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4"/>
          <p:cNvCxnSpPr/>
          <p:nvPr/>
        </p:nvCxnSpPr>
        <p:spPr>
          <a:xfrm>
            <a:off x="5130800" y="4944745"/>
            <a:ext cx="6248400" cy="0"/>
          </a:xfrm>
          <a:prstGeom prst="straightConnector1">
            <a:avLst/>
          </a:prstGeom>
          <a:noFill/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4"/>
          <p:cNvSpPr/>
          <p:nvPr/>
        </p:nvSpPr>
        <p:spPr>
          <a:xfrm>
            <a:off x="5130800" y="4556761"/>
            <a:ext cx="304800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f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537200" y="4566920"/>
            <a:ext cx="4225163" cy="28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0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Testar cultura, sintoma e distância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9740900" y="4592320"/>
            <a:ext cx="16383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Depende da coleta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812800" y="6238239"/>
            <a:ext cx="1934146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FitoVision · Seminário 2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1236960" y="6238239"/>
            <a:ext cx="14224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C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3600"/>
              <a:buFont typeface="Source Serif 4"/>
              <a:buNone/>
            </a:pPr>
            <a:r>
              <a:rPr b="1" i="0" lang="en-US" sz="3600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Erros de método e ajustes</a:t>
            </a:r>
            <a:endParaRPr sz="3600"/>
          </a:p>
        </p:txBody>
      </p:sp>
      <p:graphicFrame>
        <p:nvGraphicFramePr>
          <p:cNvPr id="122" name="Google Shape;122;p5"/>
          <p:cNvGraphicFramePr/>
          <p:nvPr/>
        </p:nvGraphicFramePr>
        <p:xfrm>
          <a:off x="822960" y="15798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{288A396D-4E6F-427E-80A6-FBB323577087}</a:tableStyleId>
              </a:tblPr>
              <a:tblGrid>
                <a:gridCol w="4222500"/>
                <a:gridCol w="3166875"/>
                <a:gridCol w="3166875"/>
              </a:tblGrid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 que estava errado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Como apareceu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Ajuste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B"/>
                    </a:solidFill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57,35% do teste repetia fotos do treino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99,01% no papel, erros em fotos novas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Split por grupos de hash perceptual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Abstenção nunca disparava (τ = 0,50)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Toda foto recebia diagnóstico confiante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Piso de 0,85 no limiar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3.972 alfaces saudáveis rotuladas como doentes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Campo piorou depois de somar dados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Rotulagem refeita e auditada por pasta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1.142 recortes vinham de 49 fotos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Conferência dos nomes antes do merge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Split pela foto de origem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Teste lido como prova de generalização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Fonte nunca vista: 23 pontos a menos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Avaliar por fonte retida e em campo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" name="Google Shape;123;p5"/>
          <p:cNvSpPr/>
          <p:nvPr/>
        </p:nvSpPr>
        <p:spPr>
          <a:xfrm>
            <a:off x="812800" y="6238239"/>
            <a:ext cx="1934146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FitoVision · Seminário 2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1236960" y="6238239"/>
            <a:ext cx="14224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20455f65057786f2_0_0"/>
          <p:cNvSpPr txBox="1"/>
          <p:nvPr>
            <p:ph type="title"/>
          </p:nvPr>
        </p:nvSpPr>
        <p:spPr>
          <a:xfrm>
            <a:off x="812800" y="812800"/>
            <a:ext cx="105663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h20455f65057786f2_0_0"/>
          <p:cNvSpPr txBox="1"/>
          <p:nvPr>
            <p:ph idx="1" type="body"/>
          </p:nvPr>
        </p:nvSpPr>
        <p:spPr>
          <a:xfrm>
            <a:off x="812800" y="1620520"/>
            <a:ext cx="10566300" cy="442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h20455f65057786f2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1225" y="-25926"/>
            <a:ext cx="1229445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h20455f65057786f2_0_0"/>
          <p:cNvSpPr/>
          <p:nvPr/>
        </p:nvSpPr>
        <p:spPr>
          <a:xfrm>
            <a:off x="11236960" y="6238242"/>
            <a:ext cx="142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B0A5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9FB0A5"/>
                </a:solidFill>
                <a:latin typeface="IBM Plex Sans"/>
                <a:ea typeface="IBM Plex Sans"/>
                <a:cs typeface="IBM Plex Sans"/>
                <a:sym typeface="IBM Plex Sans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C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3600"/>
              <a:buFont typeface="Source Serif 4"/>
              <a:buNone/>
            </a:pPr>
            <a:r>
              <a:rPr b="1" i="0" lang="en-US" sz="3600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teste se parece com o treino</a:t>
            </a:r>
            <a:endParaRPr sz="3600"/>
          </a:p>
        </p:txBody>
      </p:sp>
      <p:sp>
        <p:nvSpPr>
          <p:cNvPr id="140" name="Google Shape;140;p6"/>
          <p:cNvSpPr/>
          <p:nvPr/>
        </p:nvSpPr>
        <p:spPr>
          <a:xfrm>
            <a:off x="815975" y="2117725"/>
            <a:ext cx="3380264" cy="2223770"/>
          </a:xfrm>
          <a:prstGeom prst="roundRect">
            <a:avLst>
              <a:gd fmla="val 4426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1071880" y="2373632"/>
            <a:ext cx="2954507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F6B47"/>
              </a:buClr>
              <a:buSzPts val="6000"/>
              <a:buFont typeface="Source Serif 4"/>
              <a:buNone/>
            </a:pPr>
            <a:r>
              <a:rPr b="1" i="0" lang="en-US" sz="6000" u="none" cap="none" strike="noStrike">
                <a:solidFill>
                  <a:srgbClr val="2F6B47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98,5%</a:t>
            </a:r>
            <a:endParaRPr b="0" i="0" sz="6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071880" y="3313432"/>
            <a:ext cx="2954507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Fontes vistas no treino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071880" y="3658871"/>
            <a:ext cx="2954507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23.967 imagens das mesmas seis fontes, nas mesmas proporções.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405789" y="2117725"/>
            <a:ext cx="3380343" cy="2223770"/>
          </a:xfrm>
          <a:prstGeom prst="roundRect">
            <a:avLst>
              <a:gd fmla="val 4426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4661694" y="2373632"/>
            <a:ext cx="2954589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6000"/>
              <a:buFont typeface="Source Serif 4"/>
              <a:buNone/>
            </a:pPr>
            <a:r>
              <a:rPr b="1" i="0" lang="en-US" sz="6000" u="none" cap="none" strike="noStrike">
                <a:solidFill>
                  <a:srgbClr val="A84D14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75,4%</a:t>
            </a:r>
            <a:endParaRPr b="0" i="0" sz="6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661694" y="3313432"/>
            <a:ext cx="2954589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Fonte nunca vista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661694" y="3658871"/>
            <a:ext cx="2954589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Espinafre em fundo branco, 484 imagens, antes de entrar no treino.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7995682" y="2117725"/>
            <a:ext cx="3380343" cy="2223770"/>
          </a:xfrm>
          <a:prstGeom prst="roundRect">
            <a:avLst>
              <a:gd fmla="val 4426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8251587" y="2373632"/>
            <a:ext cx="2954589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6000"/>
              <a:buFont typeface="Source Serif 4"/>
              <a:buNone/>
            </a:pPr>
            <a:r>
              <a:rPr b="1" i="0" lang="en-US" sz="6000" u="none" cap="none" strike="noStrike">
                <a:solidFill>
                  <a:srgbClr val="A84D14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83,8%</a:t>
            </a:r>
            <a:endParaRPr b="0" i="0" sz="6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8251587" y="3313432"/>
            <a:ext cx="2954589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Horta real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8251587" y="3658871"/>
            <a:ext cx="2954589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5</a:t>
            </a: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3 fotos de </a:t>
            </a:r>
            <a:r>
              <a:rPr lang="en-US" sz="1200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couve</a:t>
            </a: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. Intervalo de confiança de 58% a </a:t>
            </a:r>
            <a:r>
              <a:rPr lang="en-US" sz="1200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8</a:t>
            </a: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6%.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812800" y="5143500"/>
            <a:ext cx="1088339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2200"/>
              <a:buFont typeface="Source Serif 4"/>
              <a:buNone/>
            </a:pPr>
            <a:r>
              <a:rPr b="0" i="0" lang="en-US" sz="2200" u="none" cap="none" strike="noStrike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Sem vazamento, o teste mede o quanto o modelo acerta fotos parecidas com as do treino.</a:t>
            </a:r>
            <a:endParaRPr b="0" i="0" sz="2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812800" y="6238239"/>
            <a:ext cx="1934146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FitoVision · Seminário 2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11250098" y="6238239"/>
            <a:ext cx="142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C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3600"/>
              <a:buFont typeface="Source Serif 4"/>
              <a:buNone/>
            </a:pPr>
            <a:r>
              <a:rPr b="1" i="0" lang="en-US" sz="3600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que o ciclo 4 mostrou</a:t>
            </a:r>
            <a:endParaRPr sz="3600"/>
          </a:p>
        </p:txBody>
      </p:sp>
      <p:sp>
        <p:nvSpPr>
          <p:cNvPr id="161" name="Google Shape;161;p7"/>
          <p:cNvSpPr/>
          <p:nvPr/>
        </p:nvSpPr>
        <p:spPr>
          <a:xfrm>
            <a:off x="812800" y="1620521"/>
            <a:ext cx="601726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1200"/>
              <a:buFont typeface="IBM Plex Sans"/>
              <a:buNone/>
            </a:pPr>
            <a:r>
              <a:rPr b="1" i="0" lang="en-US" spc="150" sz="1200" u="none" cap="none" strike="noStrike">
                <a:solidFill>
                  <a:srgbClr val="A84D14"/>
                </a:solidFill>
                <a:latin typeface="IBM Plex Sans"/>
                <a:ea typeface="IBM Plex Sans"/>
                <a:cs typeface="IBM Plex Sans"/>
                <a:sym typeface="IBM Plex Sans"/>
              </a:rPr>
              <a:t>ESPINAFRE · 484 IMAGENS DE TESTE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162" name="Google Shape;162;p7"/>
          <p:cNvGraphicFramePr/>
          <p:nvPr/>
        </p:nvGraphicFramePr>
        <p:xfrm>
          <a:off x="822960" y="19964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{288A396D-4E6F-427E-80A6-FBB323577087}</a:tableStyleId>
              </a:tblPr>
              <a:tblGrid>
                <a:gridCol w="2332725"/>
                <a:gridCol w="1049725"/>
                <a:gridCol w="1049725"/>
                <a:gridCol w="1399650"/>
              </a:tblGrid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Modelo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Ciclo 3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Ciclo 4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 (Holm)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B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EfficientNet-B0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0,754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0,884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5,9×10⁻¹²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A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ResNet-50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0,776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0,862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1,9×10⁻⁷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MobileNetV2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0,743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0,874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41B"/>
                        </a:buClr>
                        <a:buSzPts val="1600"/>
                        <a:buFont typeface="IBM Plex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12241B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1,9×10⁻⁷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p7"/>
          <p:cNvSpPr/>
          <p:nvPr/>
        </p:nvSpPr>
        <p:spPr>
          <a:xfrm>
            <a:off x="812800" y="3896361"/>
            <a:ext cx="601726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Acurácia balanceada, McNemar exato pareado. Os 173 recortes de míldio ficaram fora do teste estatístico: vêm de só 5 fotos. No domínio antigo houve empate: 0,9849 no ciclo 3 e 0,9848 no ciclo 4.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7064375" y="1623696"/>
            <a:ext cx="4311650" cy="1471930"/>
          </a:xfrm>
          <a:prstGeom prst="roundRect">
            <a:avLst>
              <a:gd fmla="val 6687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7269480" y="1828800"/>
            <a:ext cx="4018483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3600"/>
              <a:buFont typeface="Source Serif 4"/>
              <a:buNone/>
            </a:pPr>
            <a:r>
              <a:rPr b="1" i="0" lang="en-US" sz="3600" u="none" cap="none" strike="noStrike">
                <a:solidFill>
                  <a:srgbClr val="A84D14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73,3% → 83,8%</a:t>
            </a:r>
            <a:endParaRPr b="0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7269480" y="2382521"/>
            <a:ext cx="4018483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Campo, </a:t>
            </a:r>
            <a:r>
              <a:rPr b="1" lang="en-US" sz="1600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5</a:t>
            </a: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3 fotos históricas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7269480" y="2677161"/>
            <a:ext cx="410337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McNemar p = 1,00. A amostra não distingue as versões.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7064375" y="3254375"/>
            <a:ext cx="4311650" cy="1685290"/>
          </a:xfrm>
          <a:prstGeom prst="roundRect">
            <a:avLst>
              <a:gd fmla="val 5840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7269480" y="3459482"/>
            <a:ext cx="4018483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3600"/>
              <a:buFont typeface="Source Serif 4"/>
              <a:buNone/>
            </a:pPr>
            <a:r>
              <a:rPr b="1" i="0" lang="en-US" sz="3600" u="none" cap="none" strike="noStrike">
                <a:solidFill>
                  <a:srgbClr val="A84D14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99%</a:t>
            </a:r>
            <a:endParaRPr b="0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7269480" y="4013200"/>
            <a:ext cx="4018483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Confiança nos 2 erros de campo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7269480" y="4307839"/>
            <a:ext cx="4018483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Nenhuma </a:t>
            </a:r>
            <a:r>
              <a:rPr lang="en-US" sz="1200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rejeição </a:t>
            </a: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em </a:t>
            </a:r>
            <a:r>
              <a:rPr lang="en-US" sz="1200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5</a:t>
            </a: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3 fotos. ECE de 0,003 na validação e 0,146 em campo.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812800" y="6238239"/>
            <a:ext cx="1934146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FitoVision · Seminário 2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1236960" y="6238239"/>
            <a:ext cx="14224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41B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4EC"/>
              </a:buClr>
              <a:buSzPts val="3600"/>
              <a:buFont typeface="Source Serif 4"/>
              <a:buNone/>
            </a:pPr>
            <a:r>
              <a:rPr b="1" i="0" lang="en-US" sz="3600">
                <a:solidFill>
                  <a:srgbClr val="F6F4E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Conclusão parcial</a:t>
            </a:r>
            <a:endParaRPr sz="3600"/>
          </a:p>
        </p:txBody>
      </p:sp>
      <p:sp>
        <p:nvSpPr>
          <p:cNvPr id="180" name="Google Shape;180;p8"/>
          <p:cNvSpPr/>
          <p:nvPr/>
        </p:nvSpPr>
        <p:spPr>
          <a:xfrm>
            <a:off x="812800" y="2647950"/>
            <a:ext cx="1088339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6F4EC"/>
              </a:buClr>
              <a:buSzPts val="2200"/>
              <a:buFont typeface="Source Serif 4"/>
              <a:buNone/>
            </a:pPr>
            <a:r>
              <a:rPr b="0" i="0" lang="en-US" sz="2200" u="none" cap="none" strike="noStrike">
                <a:solidFill>
                  <a:srgbClr val="F6F4E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sistema acerta o que se parece com o treino. Em fonte nova ou em horta, a </a:t>
            </a:r>
            <a:r>
              <a:rPr lang="en-US" sz="2200">
                <a:solidFill>
                  <a:srgbClr val="F6F4E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precisão </a:t>
            </a:r>
            <a:r>
              <a:rPr b="0" i="0" lang="en-US" sz="2200" u="none" cap="none" strike="noStrike">
                <a:solidFill>
                  <a:srgbClr val="F6F4E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cai de </a:t>
            </a:r>
            <a:r>
              <a:rPr b="0" i="0" lang="en-US" sz="2200" u="none" cap="none" strike="noStrike">
                <a:solidFill>
                  <a:srgbClr val="F0A35E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15 a 23 pontos</a:t>
            </a:r>
            <a:r>
              <a:rPr b="0" i="0" lang="en-US" sz="2200" u="none" cap="none" strike="noStrike">
                <a:solidFill>
                  <a:srgbClr val="F6F4E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ou até mais</a:t>
            </a:r>
            <a:r>
              <a:rPr lang="en-US" sz="2200">
                <a:solidFill>
                  <a:srgbClr val="F6F4E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e </a:t>
            </a:r>
            <a:r>
              <a:rPr b="0" i="0" lang="en-US" sz="2200" u="none" cap="none" strike="noStrike">
                <a:solidFill>
                  <a:srgbClr val="F6F4E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confiança continua em 9</a:t>
            </a:r>
            <a:r>
              <a:rPr lang="en-US" sz="2200">
                <a:solidFill>
                  <a:srgbClr val="F6F4E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8</a:t>
            </a:r>
            <a:r>
              <a:rPr b="0" i="0" lang="en-US" sz="2200" u="none" cap="none" strike="noStrike">
                <a:solidFill>
                  <a:srgbClr val="F6F4E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%.</a:t>
            </a:r>
            <a:endParaRPr b="0" i="0" sz="2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815975" y="4681854"/>
            <a:ext cx="3380264" cy="1156970"/>
          </a:xfrm>
          <a:prstGeom prst="roundRect">
            <a:avLst>
              <a:gd fmla="val 8507" name="adj"/>
            </a:avLst>
          </a:prstGeom>
          <a:solidFill>
            <a:srgbClr val="1C3528"/>
          </a:solidFill>
          <a:ln cap="flat" cmpd="sng" w="9525">
            <a:solidFill>
              <a:srgbClr val="3552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1021080" y="4886964"/>
            <a:ext cx="305915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0A35E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F0A35E"/>
                </a:solidFill>
                <a:latin typeface="IBM Plex Sans"/>
                <a:ea typeface="IBM Plex Sans"/>
                <a:cs typeface="IBM Plex Sans"/>
                <a:sym typeface="IBM Plex Sans"/>
              </a:rPr>
              <a:t>Métrica válida, alcance curto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021080" y="5207000"/>
            <a:ext cx="305915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6CC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C9D6CC"/>
                </a:solidFill>
                <a:latin typeface="IBM Plex Sans"/>
                <a:ea typeface="IBM Plex Sans"/>
                <a:cs typeface="IBM Plex Sans"/>
                <a:sym typeface="IBM Plex Sans"/>
              </a:rPr>
              <a:t>98,5% sem vazamento, mas só nas fontes que o modelo já conhece.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405789" y="4681854"/>
            <a:ext cx="3380343" cy="1156970"/>
          </a:xfrm>
          <a:prstGeom prst="roundRect">
            <a:avLst>
              <a:gd fmla="val 8507" name="adj"/>
            </a:avLst>
          </a:prstGeom>
          <a:solidFill>
            <a:srgbClr val="1C3528"/>
          </a:solidFill>
          <a:ln cap="flat" cmpd="sng" w="9525">
            <a:solidFill>
              <a:srgbClr val="3552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4610894" y="4886964"/>
            <a:ext cx="3059237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0A35E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F0A35E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Confiança não acompanha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610894" y="5207000"/>
            <a:ext cx="3059237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6CC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C9D6CC"/>
                </a:solidFill>
                <a:latin typeface="IBM Plex Sans"/>
                <a:ea typeface="IBM Plex Sans"/>
                <a:cs typeface="IBM Plex Sans"/>
                <a:sym typeface="IBM Plex Sans"/>
              </a:rPr>
              <a:t>Calibrada na validação; em campo errou e não </a:t>
            </a:r>
            <a:r>
              <a:rPr lang="en-US" sz="1200">
                <a:solidFill>
                  <a:srgbClr val="C9D6CC"/>
                </a:solidFill>
                <a:latin typeface="IBM Plex Sans"/>
                <a:ea typeface="IBM Plex Sans"/>
                <a:cs typeface="IBM Plex Sans"/>
                <a:sym typeface="IBM Plex Sans"/>
              </a:rPr>
              <a:t>rejeitou quando o score F1 &lt; 85%.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7995682" y="4681854"/>
            <a:ext cx="3380343" cy="1156970"/>
          </a:xfrm>
          <a:prstGeom prst="roundRect">
            <a:avLst>
              <a:gd fmla="val 8507" name="adj"/>
            </a:avLst>
          </a:prstGeom>
          <a:solidFill>
            <a:srgbClr val="1C3528"/>
          </a:solidFill>
          <a:ln cap="flat" cmpd="sng" w="9525">
            <a:solidFill>
              <a:srgbClr val="3552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8200787" y="4886964"/>
            <a:ext cx="3059237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0A35E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F0A35E"/>
                </a:solidFill>
                <a:latin typeface="IBM Plex Sans"/>
                <a:ea typeface="IBM Plex Sans"/>
                <a:cs typeface="IBM Plex Sans"/>
                <a:sym typeface="IBM Plex Sans"/>
              </a:rPr>
              <a:t>Falta fundo real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8200787" y="5207000"/>
            <a:ext cx="3059237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6CC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C9D6CC"/>
                </a:solidFill>
                <a:latin typeface="IBM Plex Sans"/>
                <a:ea typeface="IBM Plex Sans"/>
                <a:cs typeface="IBM Plex Sans"/>
                <a:sym typeface="IBM Plex Sans"/>
              </a:rPr>
              <a:t>Dados da fonte certa renderam de 9 a 13 pontos. Fotos de horta ainda não entraram.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812800" y="6238242"/>
            <a:ext cx="1934146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B0A5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9FB0A5"/>
                </a:solidFill>
                <a:latin typeface="IBM Plex Sans"/>
                <a:ea typeface="IBM Plex Sans"/>
                <a:cs typeface="IBM Plex Sans"/>
                <a:sym typeface="IBM Plex Sans"/>
              </a:rPr>
              <a:t>FitoVision · Seminário 2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11236960" y="6238242"/>
            <a:ext cx="14224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B0A5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9FB0A5"/>
                </a:solidFill>
                <a:latin typeface="IBM Plex Sans"/>
                <a:ea typeface="IBM Plex Sans"/>
                <a:cs typeface="IBM Plex Sans"/>
                <a:sym typeface="IBM Plex Sans"/>
              </a:rPr>
              <a:t>9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C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3600"/>
              <a:buFont typeface="Source Serif 4"/>
              <a:buNone/>
            </a:pPr>
            <a:r>
              <a:rPr b="1" i="0" lang="en-US" sz="3600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que falta para fechar</a:t>
            </a:r>
            <a:endParaRPr sz="3600"/>
          </a:p>
        </p:txBody>
      </p:sp>
      <p:sp>
        <p:nvSpPr>
          <p:cNvPr id="198" name="Google Shape;198;p9"/>
          <p:cNvSpPr/>
          <p:nvPr/>
        </p:nvSpPr>
        <p:spPr>
          <a:xfrm>
            <a:off x="815975" y="2378714"/>
            <a:ext cx="3380264" cy="2051050"/>
          </a:xfrm>
          <a:prstGeom prst="roundRect">
            <a:avLst>
              <a:gd fmla="val 4799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1071880" y="2634617"/>
            <a:ext cx="2954507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3600"/>
              <a:buFont typeface="Source Serif 4"/>
              <a:buNone/>
            </a:pPr>
            <a:r>
              <a:rPr b="1" i="0" lang="en-US" sz="3600" u="none" cap="none" strike="noStrike">
                <a:solidFill>
                  <a:srgbClr val="A84D14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</a:t>
            </a:r>
            <a:endParaRPr b="0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1071880" y="3213739"/>
            <a:ext cx="2954507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Coleta com fundo real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1071880" y="3533775"/>
            <a:ext cx="2954507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De </a:t>
            </a:r>
            <a:r>
              <a:rPr lang="en-US" sz="1200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00 a </a:t>
            </a:r>
            <a:r>
              <a:rPr lang="en-US" sz="1200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5</a:t>
            </a: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00 fotos em hortas, separadas por horta em </a:t>
            </a:r>
            <a:r>
              <a:rPr lang="en-US" sz="1200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diferentes contextos.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4405789" y="2378714"/>
            <a:ext cx="3380343" cy="2051050"/>
          </a:xfrm>
          <a:prstGeom prst="roundRect">
            <a:avLst>
              <a:gd fmla="val 4799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4661694" y="2634617"/>
            <a:ext cx="2954589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3600"/>
              <a:buFont typeface="Source Serif 4"/>
              <a:buNone/>
            </a:pPr>
            <a:r>
              <a:rPr b="1" i="0" lang="en-US" sz="3600" u="none" cap="none" strike="noStrike">
                <a:solidFill>
                  <a:srgbClr val="A84D14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</a:t>
            </a:r>
            <a:endParaRPr b="0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661694" y="3213739"/>
            <a:ext cx="2954589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Medir o gap 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4661694" y="3533775"/>
            <a:ext cx="2954589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Ciclo 4 congelado, com intervalo de confiança por cultura, sintoma e distância.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7995682" y="2378714"/>
            <a:ext cx="3380343" cy="2051050"/>
          </a:xfrm>
          <a:prstGeom prst="roundRect">
            <a:avLst>
              <a:gd fmla="val 4799" name="adj"/>
            </a:avLst>
          </a:prstGeom>
          <a:solidFill>
            <a:srgbClr val="FDFCF7"/>
          </a:solidFill>
          <a:ln cap="flat" cmpd="sng" w="9525">
            <a:solidFill>
              <a:srgbClr val="D9D6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8251587" y="2634617"/>
            <a:ext cx="2954589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84D14"/>
              </a:buClr>
              <a:buSzPts val="3600"/>
              <a:buFont typeface="Source Serif 4"/>
              <a:buNone/>
            </a:pPr>
            <a:r>
              <a:rPr b="1" i="0" lang="en-US" sz="3600" u="none" cap="none" strike="noStrike">
                <a:solidFill>
                  <a:srgbClr val="A84D14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3</a:t>
            </a:r>
            <a:endParaRPr b="0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8251587" y="3213739"/>
            <a:ext cx="2954589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2241B"/>
                </a:solidFill>
                <a:latin typeface="IBM Plex Sans"/>
                <a:ea typeface="IBM Plex Sans"/>
                <a:cs typeface="IBM Plex Sans"/>
                <a:sym typeface="IBM Plex Sans"/>
              </a:rPr>
              <a:t>Aproximar o treino do campo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8251587" y="3533775"/>
            <a:ext cx="2954589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524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Fundo real no treino, sem tocar nas fotos de avaliação</a:t>
            </a:r>
            <a:r>
              <a:rPr lang="en-US" sz="1200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b="0" i="0" lang="en-US" sz="1200" u="none" cap="none" strike="noStrike">
                <a:solidFill>
                  <a:srgbClr val="44524A"/>
                </a:solidFill>
                <a:latin typeface="IBM Plex Sans"/>
                <a:ea typeface="IBM Plex Sans"/>
                <a:cs typeface="IBM Plex Sans"/>
                <a:sym typeface="IBM Plex Sans"/>
              </a:rPr>
              <a:t>e teste de dependência do fundo.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812800" y="5492750"/>
            <a:ext cx="10883392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2241B"/>
              </a:buClr>
              <a:buSzPts val="2200"/>
              <a:buFont typeface="Source Serif 4"/>
              <a:buNone/>
            </a:pPr>
            <a:r>
              <a:rPr b="0" i="0" lang="en-US" sz="2200" u="none" cap="none" strike="noStrike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Só fotos com fundo real dizem quanto o sistema vale em uso. </a:t>
            </a:r>
            <a:r>
              <a:rPr b="1" i="0" lang="en-US" sz="2200" u="none" cap="none" strike="noStrike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Obrigado</a:t>
            </a:r>
            <a:r>
              <a:rPr b="0" i="0" lang="en-US" sz="2200" u="none" cap="none" strike="noStrike">
                <a:solidFill>
                  <a:srgbClr val="1224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.</a:t>
            </a:r>
            <a:endParaRPr b="0" i="0" sz="2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812800" y="6238242"/>
            <a:ext cx="1934146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FitoVision · Seminário 2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11236936" y="6238250"/>
            <a:ext cx="340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B64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5F6B64"/>
                </a:solidFill>
                <a:latin typeface="IBM Plex Sans"/>
                <a:ea typeface="IBM Plex Sans"/>
                <a:cs typeface="IBM Plex Sans"/>
                <a:sym typeface="IBM Plex Sans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itoVision — Seminário 2">
  <a:themeElements>
    <a:clrScheme name="FitoVision — Seminário 2">
      <a:dk1>
        <a:srgbClr val="12241B"/>
      </a:dk1>
      <a:lt1>
        <a:srgbClr val="F6F4EC"/>
      </a:lt1>
      <a:dk2>
        <a:srgbClr val="4B584F"/>
      </a:dk2>
      <a:lt2>
        <a:srgbClr val="DFDFD7"/>
      </a:lt2>
      <a:accent1>
        <a:srgbClr val="A84D14"/>
      </a:accent1>
      <a:accent2>
        <a:srgbClr val="2F6B47"/>
      </a:accent2>
      <a:accent3>
        <a:srgbClr val="F0A35E"/>
      </a:accent3>
      <a:accent4>
        <a:srgbClr val="F6DCC8"/>
      </a:accent4>
      <a:accent5>
        <a:srgbClr val="1D4A30"/>
      </a:accent5>
      <a:accent6>
        <a:srgbClr val="7A340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itoVision — Seminário 2">
  <a:themeElements>
    <a:clrScheme name="FitoVision — Seminário 2">
      <a:dk1>
        <a:srgbClr val="12241B"/>
      </a:dk1>
      <a:lt1>
        <a:srgbClr val="F6F4EC"/>
      </a:lt1>
      <a:dk2>
        <a:srgbClr val="4B584F"/>
      </a:dk2>
      <a:lt2>
        <a:srgbClr val="DFDFD7"/>
      </a:lt2>
      <a:accent1>
        <a:srgbClr val="A84D14"/>
      </a:accent1>
      <a:accent2>
        <a:srgbClr val="2F6B47"/>
      </a:accent2>
      <a:accent3>
        <a:srgbClr val="F0A35E"/>
      </a:accent3>
      <a:accent4>
        <a:srgbClr val="F6DCC8"/>
      </a:accent4>
      <a:accent5>
        <a:srgbClr val="1D4A30"/>
      </a:accent5>
      <a:accent6>
        <a:srgbClr val="7A340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2026-10-08T21:01:25Z</dcterms:created>
</cp:coreProperties>
</file>