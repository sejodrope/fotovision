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6" r:id="rId25"/>
    <p:sldId id="263" r:id="rId13"/>
    <p:sldId id="267" r:id="rId26"/>
    <p:sldId id="268" r:id="rId27"/>
    <p:sldId id="264" r:id="rId14"/>
    <p:sldId id="265" r:id="rId15"/>
  </p:sldIdLst>
  <p:sldSz cy="6858000" cx="12192000"/>
  <p:notesSz cx="6858000" cy="12192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urce Serif 4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r5K5w7NZEul48z2/zevVl6gO/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8A396D-4E6F-427E-80A6-FBB323577087}">
  <a:tblStyle styleId="{288A396D-4E6F-427E-80A6-FBB3235770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font" Target="fonts/SourceSerif4-regular.fntdata"/><Relationship Id="rId11" Type="http://schemas.openxmlformats.org/officeDocument/2006/relationships/slide" Target="slides/slide6.xml"/><Relationship Id="rId22" Type="http://schemas.openxmlformats.org/officeDocument/2006/relationships/font" Target="fonts/SourceSerif4-italic.fntdata"/><Relationship Id="rId10" Type="http://schemas.openxmlformats.org/officeDocument/2006/relationships/slide" Target="slides/slide5.xml"/><Relationship Id="rId21" Type="http://schemas.openxmlformats.org/officeDocument/2006/relationships/font" Target="fonts/SourceSerif4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SourceSerif4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-boldItalic.fntdata"/><Relationship Id="rId6" Type="http://schemas.openxmlformats.org/officeDocument/2006/relationships/slide" Target="slides/slide1.xml"/><Relationship Id="rId18" Type="http://schemas.openxmlformats.org/officeDocument/2006/relationships/font" Target="fonts/IBMPlex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25" Type="http://schemas.openxmlformats.org/officeDocument/2006/relationships/slide" Target="slides/slide11.xml"/>
  <Relationship Id="rId26" Type="http://schemas.openxmlformats.org/officeDocument/2006/relationships/slide" Target="slides/slide12.xml"/>
  <Relationship Id="rId27" Type="http://schemas.openxmlformats.org/officeDocument/2006/relationships/slide" Target="slides/slide13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(15 s). Nome, orientador, e a frase do projeto: um sistema que olha a foto de uma folha e diz se ela está saudável ou com anomalia. O que eu estudo não é se isso funciona em laboratório, e sim quanto vale em campo.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Contexto em uma frase: 77% dos estabelecimentos rurais são agricultura familiar (IBGE, Censo 2017) e o diagnóstico ainda é visual e manual. A literatura reporta mais de 99% no PlantVillage, mas em imagens de estúdio. Contar a história dos três números, da esquerda para a direita: o 99,01% do TCC-I caiu quando a auditoria mostrou que 57,35% do teste era quase duplicata do treino. Refeito o split, 98,49% de acurácia balanceada, medidos em imagens das mesmas fontes do treino. Levado para horta real, 73,3% em 13 fotos (modelo do ciclo 3; o ciclo 4 aparece adiante). Fechar com a frase de baixo: essa é a questão de pesquisa, sem precisar de um slide só para ela. Em que medida o sistema, auditado e com calibração e abstenção, mantém desempenho confiável em fotos de campo.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o fluxo em 30 segundos: a foto entra, a guarda de vegetação (ExG) descarta o que não é folha, a rede classifica em saudável ou anômalo, e a confiança calibrada por temperature scaling decide se o sistema responde ou se abstém (limiar τ = 0,85). O ponto a destacar: o sistema pode dizer "não sei". Um sistema que erra com aparência de certeza passa confiança indevida ao produtor, por isso calibração e abstenção fazem parte do objeto de estudo.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Novidade desde o último seminário: além das três CNNs (EfficientNet-B0, MobileNetV2, ResNet-50), treinei um Vision Transformer, o ViT-B/16, no Colab. O modelo servido continua o EfficientNet-B0 do ciclo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Dados: 170.772 imagens de seis fontes públicas na base, 175.123 com os lotes de espinafre-de-malabar e alface com míldio do ciclo 4.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Ler o objetivo geral como está. Específicos, sem ler um a um: os três primeiros estão concluídos, e o (b) agora cobre quatro arquiteturas: EfficientNet-B0, MobileNetV2, ResNet-50 e ViT-B/16.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três últimos dependem das fotos de campo. A coleta começa amanhã (16/10), em hortas de Joinville, com o rótulo anotado na hora, antes de qualquer inferência. As fotos de campo nunca entram no treino do modelo avaliado: os ciclos 4 e 5 foram congelados antes da coleta, então a avaliação é cega.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Registro honesto do processo (40 s). Não ler linha a linha: foram cinco ciclos de treino, e cada um nasceu de um erro concreto. O padrão comum: nenhum desses erros aparecia nas métricas de laboratório; quem denunciou foram dados de fora (fotos novas, as 13 fotos de horta, uma fonte nunca vista) ou uma auditoria.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duas linhas novas vêm da auditoria de 13/10. (1) A fonte de alface shuvokumarbasak2030 tem 17 transformações de cada foto (recorte, rotação livre, ruído). O hash perceptual não liga essas variantes à original, então 23% do teste tinha uma variante da mesma foto no treino. O 0,04% de vazamento continua certo para quase-duplicatas, mas não mede isso. (2) Cultura e rótulo estão associados: 87% da alface do treino é saudável e algumas culturas só têm um rótulo. Uma regra "alface = saudável, resto = doente" acertaria 78,5% do treino. O ciclo 5 corrige as duas coisas.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Outros ajustes documentados em docs/CORRECOES_METODOLOGICAS.md.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0455f65057786f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20455f65057786f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20455f65057786f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achado central do seminário (45 s). Esquerda: o split é limpo de duplicatas, mas treino, validação e teste são fatias das mesmas seis fontes públicas. Cerca de 70% do treino e 72% do teste vêm de duas fontes derivadas do PlantVillage: folha isolada, fundo homogêneo, luz controlada. O teste confirma que o modelo aprendeu essas fontes. Centro: a medida mais sólida que tenho de fora das fontes. O modelo do ciclo 3 nunca tinha visto o dataset de espinafre-de-malabar. São fotos de estúdio também, folha isolada em fundo branco, e mesmo assim a acurácia balanceada caiu para 75,4% em 484 imagens (EfficientNet-B0; os outros dois ficaram em 74,3% e 77,6%). Ressalva: muda a fonte e a espécie ao mesmo tempo, então não dá para separar os dois efeitos. Direita: horta real, modelo do ciclo 4, 83,8% em 13 fotos. O intervalo de Wilson vai de 58% a 96%, então é um indício, ainda sem medida. Leitura: o modelo está amarrado à aparência dos dados de treino. A hipótese que explica a queda em horta é o fundo: quase todo o treino tem fundo limpo, e a horta tem terra, sombra e folhas sobrepostas. Essa parte ainda é hipótese; o teste direto está no último slide.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Ciclo 4 (setembro): incorporei espinafre-de-malabar e alface com míldio ao treino. No teste de espinafre o ganho foi de 9 a 13 pontos de acurácia balanceada, significativo nos três modelos. É o primeiro ganho do projeto que passa num teste de significância, e não custou nada no domínio antigo. Correção em relação à versão anterior deste slide: eu reportava 657 imagens e p de 10⁻¹³. Desses 657, 173 são recortes de apenas 5 fotos de míldio, e recortes da mesma foto não são observações independentes, o que infla o teste. Refiz a conta só com o espinafre (484 fotos independentes). O ganho continua significativo, com p mais modesto. O míldio fica como indicação: 5 fotos. Como ler o ganho: ele confirma o slide anterior. Quando a fonte entra no treino, o teste dessa fonte sobe. Isso mostra que dados da fonte certa funcionam, e não diz nada ainda sobre horta. À direita, o campo. As 13 fotos sobem de 73,3% para 83,8%, com p = 1,00: com N = 13 não dá para afirmar nada. E o ponto novo: no ciclo 4, as 13 fotos receberam confiança de 0,97 ou mais, inclusive as duas erradas (0,997 e 0,991), e o sistema não se absteve nenhuma vez. O limiar de abstenção foi calibrado na validação, que é da mesma distribuição do treino. Fora dela a confiança deixa de avisar. Ressalva se perguntarem: o espinafre é Basella alba (espinafre-de-malabar), não Spinacia oleracea.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Dizer com clareza que é uma conclusão parcial: a coleta de campo começa amanhã. Resposta até aqui à questão de pesquisa: o sistema mantém desempenho em fotos parecidas com as do treino (98,48% de acurácia balanceada). Fora delas, não posso afirmar que mantém: fonte retida, cerca de 10 pontos abaixo (ciclo 5); lavoura dentro do próprio teste, 13 pontos abaixo; fonte nunca vista no ciclo 3, 23 pontos.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pontos que se sustentam: (1) O protocolo é auditável e derrubou os 99,01%, mas um teste limpo de duplicatas continua sendo da mesma distribuição. (2) Calibração e abstenção funcionam na validação (ECE 0,003); em campo os erros saíram com 0,95 a 0,999 e nenhum foi interceptado. (3) A arquitetura não é o gargalo: o ViT, 21 vezes maior, empata com o EfficientNet-B0 e é o pior na lavoura. O que mudou resultado foram os dados: a fonte certa (ciclo 4, +9 a +13 pontos no espinafre) e a amostragem por cultura (ciclo 5, +7 a +12 de especificidade na lavoura).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ainda não existe no treino é foto de hortaliça com fundo de horta.</a:t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Fechamento (30 s). Os modelos dos ciclos 4 e 5 estão treinados e congelados; o que falta é campo.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Coleta: começa amanhã. Meta de 100 a 300 fotos, rótulo anotado na hora, antes de qualquer inferência, e uma coluna com a horta, para separar avaliação e adaptação por horta (não por foto) e não repetir o vazamento.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Medição: ciclo 4 e ciclo 5 rodam às cegas em tudo. Com 100 fotos o intervalo de Wilson cai de mais de 35 para cerca de 15 pontos, o que já permite medir o domain gap e decidir qual ciclo servir: se a horta mostrar o padrão da lavoura (falso alarme em folha sadia), o EfficientNet-B0 do ciclo 5 é o candidato, com a troca de sensibilidade dita explicitamente. Também mede se a confiança calibrada avisa quando erra.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Só depois, fundo real no treino (conjunto de adaptação, bases como o PlantDoc) e o teste de dependência do fundo: as mesmas imagens com fundo removido e com folha removida. A alinhar com o orientador. Agradecer e abrir para perguntas.</a:t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Comparação das quatro arquiteturas no mesmo teste (ciclo 4). O ViT-B/16 foi treinado no Colab, em GPU L4, com o mesmo protocolo das CNNs (só a taxa de aprendizado e o aquecimento mudam, como é o padrão para ViT).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Resultado: EfficientNet-B0 e ViT empatam em 98,48% de acurácia balanceada (McNemar com Holm, p = 0,26), e os dois superam MobileNetV2 e ResNet-50. O ViT tem 85,8 milhões de parâmetros, 21 vezes o EfficientNet-B0, e é 2,7 vezes mais lento (19,4 contra 7,2 ms). Mais modelo não comprou acurácia.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achado mais importante da auditoria está na coluna Lavoura: dentro da mesma fonte (a coletânea), as culturas fotografadas em lavoura (mandioca, arroz, cana, café) dão 86,3%, e as de estúdio, 99,7%. São 19% do teste e 81% dos erros. É a medida de domain gap mais sólida que eu tenho, com N de milhares, e saiu do próprio teste. Nessa parte, o ViT é o pior dos quatro (83,4%).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Ressalva: a classificação "lavoura" foi feita por inspeção de amostras de cada cultura; o efeito mistura condição de captura e qualidade de rótulo dessas fontes.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Ciclo 5 (treinado ontem, 14/10, no Colab): o mesmo dataset com as correções da auditoria. Split da alface pela foto original, sem mapas de borda; amostragem equilibrada por rótulo dentro de cada cultura, para tirar o atalho cultura → rótulo; 8.266 imagens de dano por praga que tinham ficado fora; e um lote de espinafre (574 imagens) retido fora do treino, como fonte nunca vista.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Resultado: onde estava o problema, a correção funcionou. Na lavoura, as três CNNs ganham de 1,8 a 3,5 pontos de acurácia balanceada e de 6,8 a 11,9 de especificidade (menos folha sadia dada como doente). O MobileNetV2 passa de 78/95 para 90/90 em especificidade/sensibilidade.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 é troca, não ganho: a sensibilidade cai de 1,8 a 4,9 pontos e, contado imagem a imagem, o ciclo 4 acerta mais (McNemar, p de 0,03 a 10⁻¹⁰), porque as anômalas são maioria. Qual é melhor depende do custo de cada erro na horta: falso alarme custa uma inspeção; doença perdida pode custar o canteiro.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ViT quase não muda (83,4 → 84,5, p = 0,66) e é o pior na lavoura nos dois ciclos. A validação não ordena os modelos pelo que importa: o F1 de validação põe EfficientNet e ViT na frente (0,972), mas na lavoura e na fonte retida a ordem se inverte. Fonte retida: 85,8 a 90,1%, contra 97 a 99% nas fontes vistas — cerca de 10 pontos de queda dentro da mesma cultura.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Ajustes de calibração. Temperature scaling por L-BFGS na validação, ECE com 15 faixas, e o limiar τ é o menor valor a partir de 0,85 com acurácia seletiva de pelo menos 98% na validação. Na validação funciona muito bem: ECE de 0,05 para 0,003 no EfficientNet-B0, cobertura de 98,9% (ViT: 0,002 e 99,5%).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Achado da auditoria: todas as temperaturas são menores que 1 (0,55 a 0,62 no ciclo 4, 0,64 a 0,68 no ciclo 5). Ou seja, a calibração aumenta a confiança. É o efeito esperado do label smoothing, que deixa a rede pouco confiante nas fontes de treino.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campo isso pesa contra: no ciclo 4, o ECE nas 13 fotos é 0,146 com a temperatura e 0,094 sem ela. Os erros saíram com 0,95 a 0,999 e nenhum foi interceptado; mesmo sem temperatura sairiam com 0,93 a 0,96, acima de τ. No ciclo 5 o sinal inverte (0,091 com, 0,125 sem) e houve uma abstenção. Com N = 13, é indício, não medida.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Mensagem: calibração ajustada na validação vale para a distribuição da validação. A pergunta "a confiança avisa quando o sistema erra na horta?" só se responde com as fotos novas.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4E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  <a:defRPr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2241B"/>
              </a:buClr>
              <a:buSzPts val="1600"/>
              <a:buNone/>
              <a:defRPr sz="1600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  <a:defRPr b="0" i="0" sz="36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9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9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9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41B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606958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SEMINÁRIO 2 · TCC-II · ENGENHARIA DE SOFTWARE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12800" y="1720425"/>
            <a:ext cx="5777100" cy="3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600"/>
              <a:buFont typeface="IBM Plex Sans"/>
              <a:buNone/>
            </a:pPr>
            <a:r>
              <a:rPr b="1" i="0" lang="en-US" sz="31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Detecção de anomalias fitossanitárias em hortaliças utilizando visão computacional e aprendizado de máquina</a:t>
            </a:r>
            <a:endParaRPr b="1" i="0" sz="3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12800" y="5516880"/>
            <a:ext cx="6069584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4EC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6F4EC"/>
                </a:solidFill>
                <a:latin typeface="IBM Plex Sans"/>
                <a:ea typeface="IBM Plex Sans"/>
                <a:cs typeface="IBM Plex Sans"/>
                <a:sym typeface="IBM Plex Sans"/>
              </a:rPr>
              <a:t>José Pedro Vieira Silva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831840"/>
            <a:ext cx="606958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Orientador: Prof. Leanderson André · Univille · 15/10/2026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é de alface saudável fotografado em canteiro, sobre solo" id="25" name="Google Shape;25;p1"/>
          <p:cNvPicPr preferRelativeResize="0"/>
          <p:nvPr/>
        </p:nvPicPr>
        <p:blipFill rotWithShape="1">
          <a:blip r:embed="rId3">
            <a:alphaModFix/>
          </a:blip>
          <a:srcRect b="0" l="19297" r="19297" t="0"/>
          <a:stretch/>
        </p:blipFill>
        <p:spPr>
          <a:xfrm>
            <a:off x="7112000" y="812800"/>
            <a:ext cx="4267200" cy="5232400"/>
          </a:xfrm>
          <a:prstGeom prst="roundRect">
            <a:avLst>
              <a:gd fmla="val 357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 laboratório ao campo</a:t>
            </a:r>
            <a:endParaRPr sz="3600"/>
          </a:p>
        </p:txBody>
      </p:sp>
      <p:sp>
        <p:nvSpPr>
          <p:cNvPr id="32" name="Google Shape;32;p2"/>
          <p:cNvSpPr/>
          <p:nvPr/>
        </p:nvSpPr>
        <p:spPr>
          <a:xfrm>
            <a:off x="815975" y="2117725"/>
            <a:ext cx="3380264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71880" y="2373630"/>
            <a:ext cx="295450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B857E"/>
              </a:buClr>
              <a:buSzPts val="6000"/>
              <a:buFont typeface="Source Serif 4"/>
              <a:buNone/>
            </a:pPr>
            <a:r>
              <a:rPr b="1" i="0" lang="en-US" sz="6000" u="none" cap="none" strike="sngStrike">
                <a:solidFill>
                  <a:srgbClr val="7B857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99,01%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71880" y="3313430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Resultado inicial, invalidado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71880" y="3658870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57,35% do teste repetia fotos quase idênticas às do treino.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405789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661694" y="2373630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2F6B4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98,49%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1694" y="3313430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 sem vazamento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61694" y="3658870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 balanceada com split por hash perceptual, nas mesmas fontes do treino.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95682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51587" y="2373630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73,3%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251587" y="3313430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Horta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51587" y="3658870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Ciclo 3, em 13 fotos de alface de horta.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2800" y="514350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pergunta deixa de ser se a rede classifica folhas e passa a ser quanto o sistema vale em uso real.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12800" y="6238241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236960" y="6238241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sistema em estudo</a:t>
            </a:r>
            <a:endParaRPr sz="3600"/>
          </a:p>
        </p:txBody>
      </p:sp>
      <p:sp>
        <p:nvSpPr>
          <p:cNvPr id="53" name="Google Shape;53;p3"/>
          <p:cNvSpPr/>
          <p:nvPr/>
        </p:nvSpPr>
        <p:spPr>
          <a:xfrm>
            <a:off x="8159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0210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021080" y="2299573"/>
            <a:ext cx="1899361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Foto da folha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021080" y="2619614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Celular, luz natural, sem preparar a cena.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0" y="2599294"/>
            <a:ext cx="304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35845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7896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789680" y="2299573"/>
            <a:ext cx="189936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Guarda de vegetação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789680" y="2863453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Índice rejeita imagens sem folha.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599294"/>
            <a:ext cx="304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63531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5582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58280" y="2299573"/>
            <a:ext cx="189936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Rede com transfer learning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58280" y="2863453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Três CNNs e um ViT-B/16, comparados.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2200" y="2599294"/>
            <a:ext cx="304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91217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3268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326880" y="2299573"/>
            <a:ext cx="189936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Confiança calibrada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326880" y="2863453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Abaixo de τ = 0,85, o sistema se abstém.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12800" y="3984388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QUATRO VEREDICTOS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12800" y="4299347"/>
            <a:ext cx="1275239" cy="487680"/>
          </a:xfrm>
          <a:prstGeom prst="roundRect">
            <a:avLst>
              <a:gd fmla="val 50000" name="adj"/>
            </a:avLst>
          </a:prstGeom>
          <a:solidFill>
            <a:srgbClr val="DCEBD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A30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D4A3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Saudável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189639" y="4299347"/>
            <a:ext cx="1245076" cy="487680"/>
          </a:xfrm>
          <a:prstGeom prst="roundRect">
            <a:avLst>
              <a:gd fmla="val 50000" name="adj"/>
            </a:avLst>
          </a:prstGeom>
          <a:solidFill>
            <a:srgbClr val="F6DCC8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3409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7A3409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Anômalo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536315" y="4299347"/>
            <a:ext cx="1608931" cy="487680"/>
          </a:xfrm>
          <a:prstGeom prst="roundRect">
            <a:avLst>
              <a:gd fmla="val 50000" name="adj"/>
            </a:avLst>
          </a:prstGeom>
          <a:solidFill>
            <a:srgbClr val="E6E3D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Inconclusivo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246846" y="4299347"/>
            <a:ext cx="1467326" cy="487680"/>
          </a:xfrm>
          <a:prstGeom prst="roundRect">
            <a:avLst>
              <a:gd fmla="val 50000" name="adj"/>
            </a:avLst>
          </a:prstGeom>
          <a:solidFill>
            <a:srgbClr val="E6E3D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Não é folha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12800" y="5273041"/>
            <a:ext cx="10883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Treinado com cerca de 175 mil imagens públicas, deduplicadas por hash perceptual e particionadas em grupos para não vazar entre treino e teste.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12800" y="6238241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236960" y="6238241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Objetivo</a:t>
            </a:r>
            <a:endParaRPr sz="3600"/>
          </a:p>
        </p:txBody>
      </p:sp>
      <p:sp>
        <p:nvSpPr>
          <p:cNvPr id="86" name="Google Shape;86;p4"/>
          <p:cNvSpPr/>
          <p:nvPr/>
        </p:nvSpPr>
        <p:spPr>
          <a:xfrm>
            <a:off x="812800" y="1620520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GERAL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12800" y="1986280"/>
            <a:ext cx="392430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Avaliar o desempenho e a confiabilidade do sistema, quantificando com rigor estatístico a diferença entre laboratório e campo.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130800" y="1620520"/>
            <a:ext cx="643585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ESPECÍFICOS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5130800" y="198945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5130800" y="2092961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537200" y="210312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auditado, sem vazamento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740900" y="212852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Concluído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5130800" y="2482216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5130800" y="2585720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537200" y="259588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Comparar quatro arquiteturas, com o ViT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740900" y="262128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Concluído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5130800" y="297497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5130800" y="3078480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537200" y="3088641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Avaliar calibração e abstenção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740900" y="3114041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Concluído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5130800" y="3467736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"/>
          <p:cNvSpPr/>
          <p:nvPr/>
        </p:nvSpPr>
        <p:spPr>
          <a:xfrm>
            <a:off x="5130800" y="3571241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537200" y="358140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 o conjunto de campo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740900" y="360680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Coleta em 16/10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5130800" y="396049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4"/>
          <p:cNvSpPr/>
          <p:nvPr/>
        </p:nvSpPr>
        <p:spPr>
          <a:xfrm>
            <a:off x="5130800" y="4064000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537200" y="4074161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Quantificar o domain gap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740900" y="4099561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 da coleta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9" name="Google Shape;109;p4"/>
          <p:cNvCxnSpPr/>
          <p:nvPr/>
        </p:nvCxnSpPr>
        <p:spPr>
          <a:xfrm>
            <a:off x="5130800" y="445325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4"/>
          <p:cNvCxnSpPr/>
          <p:nvPr/>
        </p:nvCxnSpPr>
        <p:spPr>
          <a:xfrm>
            <a:off x="5130800" y="494474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5130800" y="4556761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f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37200" y="456692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Testar cultura, sintoma e distância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740900" y="459232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 da coleta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236960" y="6238239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Erros de método e ajustes</a:t>
            </a:r>
            <a:endParaRPr sz="3600"/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822960" y="15798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{288A396D-4E6F-427E-80A6-FBB323577087}</a:tableStyleId>
              </a:tblPr>
              <a:tblGrid>
                <a:gridCol w="4222500"/>
                <a:gridCol w="3166875"/>
                <a:gridCol w="3166875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 que estava errado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Como apareceu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Ajuste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57,35% do teste repetia fotos do treino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99,01% no papel, erros em fotos novas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 por grupos de hash perceptual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Abstenção nunca disparava (τ = 0,50)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Toda foto recebia diagnóstico confiante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Piso de 0,85 no limiar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3.972 alfaces saudáveis rotuladas como doentes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Campo piorou depois de somar dados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Rotulagem refeita e auditada por pasta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Variantes da mesma foto de alface no treino e no teste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Auditoria de 13/10: 23% do teste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 pela foto original (ciclo 5)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Cultura associada ao rótulo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81% dos erros em 19% do teste (lavoura)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Amostragem por cultura (ciclo 5)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Teste lido como prova de generalização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Fonte nunca vista: 23 pontos a menos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Avaliar por fonte retida e em campo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5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1236960" y="6238239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20455f65057786f2_0_0"/>
          <p:cNvSpPr txBox="1"/>
          <p:nvPr>
            <p:ph type="title"/>
          </p:nvPr>
        </p:nvSpPr>
        <p:spPr>
          <a:xfrm>
            <a:off x="812800" y="812800"/>
            <a:ext cx="105663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20455f65057786f2_0_0"/>
          <p:cNvSpPr txBox="1"/>
          <p:nvPr>
            <p:ph idx="1" type="body"/>
          </p:nvPr>
        </p:nvSpPr>
        <p:spPr>
          <a:xfrm>
            <a:off x="812800" y="1620520"/>
            <a:ext cx="10566300" cy="44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h20455f65057786f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225" y="-25926"/>
            <a:ext cx="1229445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h20455f65057786f2_0_0"/>
          <p:cNvSpPr/>
          <p:nvPr/>
        </p:nvSpPr>
        <p:spPr>
          <a:xfrm>
            <a:off x="11236960" y="6238242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A5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9FB0A5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teste se parece com o treino</a:t>
            </a:r>
            <a:endParaRPr sz="3600"/>
          </a:p>
        </p:txBody>
      </p:sp>
      <p:sp>
        <p:nvSpPr>
          <p:cNvPr id="140" name="Google Shape;140;p6"/>
          <p:cNvSpPr/>
          <p:nvPr/>
        </p:nvSpPr>
        <p:spPr>
          <a:xfrm>
            <a:off x="815975" y="2117725"/>
            <a:ext cx="3380264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71880" y="2373632"/>
            <a:ext cx="295450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2F6B4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98,5%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71880" y="3313432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Fontes vistas no treino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71880" y="3658871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23.967 imagens das mesmas seis fontes, nas mesmas proporções.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405789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661694" y="2373632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75,4%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661694" y="3313432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Fonte nunca vista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661694" y="3658871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Espinafre em fundo branco, 484 imagens, antes de entrar no treino.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995682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251587" y="2373632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83,8%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251587" y="3313432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Horta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251587" y="3658871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13 fotos de alface, ciclo 4. Intervalo de confiança de 58% a 96%.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12800" y="514350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Sem vazamento, o teste mede o quanto o modelo acerta fotos parecidas com as do treino.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250098" y="6238239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o ciclo 4 mostrou</a:t>
            </a:r>
            <a:endParaRPr sz="3600"/>
          </a:p>
        </p:txBody>
      </p:sp>
      <p:sp>
        <p:nvSpPr>
          <p:cNvPr id="161" name="Google Shape;161;p7"/>
          <p:cNvSpPr/>
          <p:nvPr/>
        </p:nvSpPr>
        <p:spPr>
          <a:xfrm>
            <a:off x="812800" y="1620521"/>
            <a:ext cx="60172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ESPINAFRE · 484 IMAGENS DE TESTE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822960" y="1996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{288A396D-4E6F-427E-80A6-FBB323577087}</a:tableStyleId>
              </a:tblPr>
              <a:tblGrid>
                <a:gridCol w="2332725"/>
                <a:gridCol w="1049725"/>
                <a:gridCol w="1049725"/>
                <a:gridCol w="1399650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Modelo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Ciclo 3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Ciclo 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 (Holm)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EfficientNet-B0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0,754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0,884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5,9×10⁻¹²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ResNet-50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0,776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0,862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1,9×10⁻⁷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MobileNetV2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0,743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0,874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1,9×10⁻⁷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7"/>
          <p:cNvSpPr/>
          <p:nvPr/>
        </p:nvSpPr>
        <p:spPr>
          <a:xfrm>
            <a:off x="812800" y="3896361"/>
            <a:ext cx="601726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 balanceada, McNemar exato pareado. Os 173 recortes de míldio ficaram fora do teste estatístico: vêm de só 5 fotos. No domínio antigo houve empate: 0,9849 no ciclo 3 e 0,9848 no ciclo 4.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064375" y="1623696"/>
            <a:ext cx="4311650" cy="1471930"/>
          </a:xfrm>
          <a:prstGeom prst="roundRect">
            <a:avLst>
              <a:gd fmla="val 6687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269480" y="1828800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73,3% → 83,8%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269480" y="2382521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Campo, 13 fotos históricas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269480" y="2677161"/>
            <a:ext cx="41033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McNemar p = 1,00. A amostra não distingue as versões.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064375" y="3254375"/>
            <a:ext cx="4311650" cy="1685290"/>
          </a:xfrm>
          <a:prstGeom prst="roundRect">
            <a:avLst>
              <a:gd fmla="val 5840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269480" y="3459482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99%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269480" y="4013200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Confiança nos 2 erros de campo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269480" y="4307839"/>
            <a:ext cx="401848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Nenhuma rejeição em 13 fotos. ECE de 0,003 na validação e 0,146 em campo.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979200" y="6238239"/>
            <a:ext cx="4000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41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C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Conclusão parcial</a:t>
            </a:r>
            <a:endParaRPr sz="3600"/>
          </a:p>
        </p:txBody>
      </p:sp>
      <p:sp>
        <p:nvSpPr>
          <p:cNvPr id="180" name="Google Shape;180;p8"/>
          <p:cNvSpPr/>
          <p:nvPr/>
        </p:nvSpPr>
        <p:spPr>
          <a:xfrm>
            <a:off x="812800" y="264795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F4EC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sistema acerta o que se parece com o treino. Em fonte nova, lavoura ou horta, a </a:t>
            </a:r>
            <a:r>
              <a:rPr lang="en-US" sz="22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acurácia 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cai de </a:t>
            </a:r>
            <a:r>
              <a:rPr b="0" i="0" lang="en-US" sz="2200" u="none" cap="none" strike="noStrike">
                <a:solidFill>
                  <a:srgbClr val="F0A35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10 a 23 pontos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/>
            </a:r>
            <a:r>
              <a:rPr lang="en-US" sz="22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e 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erros saem com confiança acima de 0,9</a:t>
            </a:r>
            <a:r>
              <a:rPr lang="en-US" sz="22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15975" y="4681854"/>
            <a:ext cx="3380264" cy="1156970"/>
          </a:xfrm>
          <a:prstGeom prst="roundRect">
            <a:avLst>
              <a:gd fmla="val 8507" name="adj"/>
            </a:avLst>
          </a:prstGeom>
          <a:solidFill>
            <a:srgbClr val="1C3528"/>
          </a:solidFill>
          <a:ln cap="flat" cmpd="sng" w="9525">
            <a:solidFill>
              <a:srgbClr val="3552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021080" y="4886964"/>
            <a:ext cx="30591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Métrica válida, alcance curto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21080" y="5207000"/>
            <a:ext cx="305915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98,5% sem vazamento, mas só nas fontes que o modelo já conhece.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405789" y="4681854"/>
            <a:ext cx="3380343" cy="1156970"/>
          </a:xfrm>
          <a:prstGeom prst="roundRect">
            <a:avLst>
              <a:gd fmla="val 8507" name="adj"/>
            </a:avLst>
          </a:prstGeom>
          <a:solidFill>
            <a:srgbClr val="1C3528"/>
          </a:solidFill>
          <a:ln cap="flat" cmpd="sng" w="9525">
            <a:solidFill>
              <a:srgbClr val="3552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610894" y="4886964"/>
            <a:ext cx="305923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Confiança não acompanha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610894" y="5207000"/>
            <a:ext cx="305923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ECE 0,003 na validação; em campo, erros com 0,95 a 0,999 e nenhum interceptado.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995682" y="4681854"/>
            <a:ext cx="3380343" cy="1156970"/>
          </a:xfrm>
          <a:prstGeom prst="roundRect">
            <a:avLst>
              <a:gd fmla="val 8507" name="adj"/>
            </a:avLst>
          </a:prstGeom>
          <a:solidFill>
            <a:srgbClr val="1C3528"/>
          </a:solidFill>
          <a:ln cap="flat" cmpd="sng" w="9525">
            <a:solidFill>
              <a:srgbClr val="3552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200787" y="4886964"/>
            <a:ext cx="305923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Dados pesam mais que modelo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200787" y="5207000"/>
            <a:ext cx="305923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O ViT, 21 vezes maior, empata. Corrigir os dados mudou a lavoura.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12800" y="6238242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A5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9FB0A5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0979200" y="6238242"/>
            <a:ext cx="4000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A5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9FB0A5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falta para fechar</a:t>
            </a:r>
            <a:endParaRPr sz="3600"/>
          </a:p>
        </p:txBody>
      </p:sp>
      <p:sp>
        <p:nvSpPr>
          <p:cNvPr id="198" name="Google Shape;198;p9"/>
          <p:cNvSpPr/>
          <p:nvPr/>
        </p:nvSpPr>
        <p:spPr>
          <a:xfrm>
            <a:off x="815975" y="2378714"/>
            <a:ext cx="3380264" cy="2051050"/>
          </a:xfrm>
          <a:prstGeom prst="roundRect">
            <a:avLst>
              <a:gd fmla="val 4799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071880" y="2634617"/>
            <a:ext cx="2954507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071880" y="3213739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Coleta com fundo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071880" y="3533775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partir de 16/10, em hortas, com o rótulo anotado na hora e separadas por horta.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405789" y="2378714"/>
            <a:ext cx="3380343" cy="2051050"/>
          </a:xfrm>
          <a:prstGeom prst="roundRect">
            <a:avLst>
              <a:gd fmla="val 4799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661694" y="2634617"/>
            <a:ext cx="2954589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661694" y="3213739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Medir o gap 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661694" y="3533775"/>
            <a:ext cx="2954589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Ciclos 4 e 5 congelados, às cegas, com intervalo por cultura e sintoma.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995682" y="2378714"/>
            <a:ext cx="3380343" cy="2051050"/>
          </a:xfrm>
          <a:prstGeom prst="roundRect">
            <a:avLst>
              <a:gd fmla="val 4799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8251587" y="2634617"/>
            <a:ext cx="2954589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251587" y="3213739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Aproximar o treino do campo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251587" y="3533775"/>
            <a:ext cx="2954589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Fundo real no treino, sem tocar nas fotos de avaliação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 teste de dependência do fundo.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12800" y="5492750"/>
            <a:ext cx="10883392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Só fotos com fundo real dizem quanto o sistema vale em uso. </a:t>
            </a:r>
            <a:r>
              <a:rPr b="1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Obrigado</a:t>
            </a: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12800" y="6238242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0979200" y="6238250"/>
            <a:ext cx="400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Quatro arquiteturas, com o ViT</a:t>
            </a:r>
            <a:endParaRPr sz="3600"/>
          </a:p>
        </p:txBody>
      </p:sp>
      <p:sp>
        <p:nvSpPr>
          <p:cNvPr id="161" name="Google Shape;161;p7"/>
          <p:cNvSpPr/>
          <p:nvPr/>
        </p:nvSpPr>
        <p:spPr>
          <a:xfrm>
            <a:off x="812800" y="1620521"/>
            <a:ext cx="60172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CICLO 4 · ACURÁCIA BALANCEADA (%) · 23.967 IMAGENS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822960" y="1996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{288A396D-4E6F-427E-80A6-FBB323577087}</a:tableStyleId>
              </a:tblPr>
              <a:tblGrid>
                <a:gridCol w="1950000"/>
                <a:gridCol w="950000"/>
                <a:gridCol w="950000"/>
                <a:gridCol w="1000000"/>
                <a:gridCol w="1000000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Modelo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Parâm.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Teste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Lavoura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Latência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EfficientNet-B0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4,0 M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98,48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86,3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7,2 ms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ViT-B/16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85,8 M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98,48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83,4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19,4 ms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MobileNetV2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2,2 M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97,89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86,6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5,3 ms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ResNet-50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23,5 M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97,82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87,8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US" sz="15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8,6 ms</a:t>
                      </a:r>
                      <a:endParaRPr sz="15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7"/>
          <p:cNvSpPr/>
          <p:nvPr/>
        </p:nvSpPr>
        <p:spPr>
          <a:xfrm>
            <a:off x="812800" y="4950000"/>
            <a:ext cx="601726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Lavoura: mandioca, arroz, cana e café da coletânea (N = 4.530). Latência na RTX 3050. O ViT foi treinado no Colab (GPU L4, 6,1 h).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064375" y="1623696"/>
            <a:ext cx="4311650" cy="1471930"/>
          </a:xfrm>
          <a:prstGeom prst="roundRect">
            <a:avLst>
              <a:gd fmla="val 6687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269480" y="1828800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 = 0,26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269480" y="2382521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× EfficientNet-B0 no teste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269480" y="2677161"/>
            <a:ext cx="41033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Empate, com 21 vezes mais parâmetros.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064375" y="3254375"/>
            <a:ext cx="4311650" cy="1685290"/>
          </a:xfrm>
          <a:prstGeom prst="roundRect">
            <a:avLst>
              <a:gd fmla="val 5840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269480" y="3459482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86,3% × 99,7%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269480" y="4013200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Lavoura × estúdio, na mesma fonte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269480" y="4307839"/>
            <a:ext cx="401848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81% dos erros estão em 19% do teste. Ali, o ViT é o pior.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979200" y="6238239"/>
            <a:ext cx="4000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Ciclo 5: o pipeline corrigido</a:t>
            </a:r>
            <a:endParaRPr sz="3600"/>
          </a:p>
        </p:txBody>
      </p:sp>
      <p:sp>
        <p:nvSpPr>
          <p:cNvPr id="161" name="Google Shape;161;p7"/>
          <p:cNvSpPr/>
          <p:nvPr/>
        </p:nvSpPr>
        <p:spPr>
          <a:xfrm>
            <a:off x="812800" y="1620521"/>
            <a:ext cx="60172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LAVOURA (N = 4.530) E FONTE RETIDA (N = 574) · %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822960" y="1996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{288A396D-4E6F-427E-80A6-FBB323577087}</a:tableStyleId>
              </a:tblPr>
              <a:tblGrid>
                <a:gridCol w="1750000"/>
                <a:gridCol w="1500000"/>
                <a:gridCol w="1600000"/>
                <a:gridCol w="1000000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Modelo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Lavoura c4 → c5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Especif. c4 → c5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Retida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EfficientNet-B0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86,3 → 88,8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76,6 → 83,4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87,9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ViT-B/16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83,4 → 84,5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69,8 → 72,1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85,8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MobileNetV2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86,6 → 90,1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78,3 → 90,2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88,4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ResNet-50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87,8 → 89,6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81,4 → 89,0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90,1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7"/>
          <p:cNvSpPr/>
          <p:nvPr/>
        </p:nvSpPr>
        <p:spPr>
          <a:xfrm>
            <a:off x="812800" y="4800000"/>
            <a:ext cx="601726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Split por foto original, amostragem por cultura, 8.266 imagens de praga e um lote de espinafre fora do treino. Quatro modelos no Colab em 14/10, cerca de 12 h.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064375" y="1623696"/>
            <a:ext cx="4311650" cy="1471930"/>
          </a:xfrm>
          <a:prstGeom prst="roundRect">
            <a:avLst>
              <a:gd fmla="val 6687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269480" y="1828800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+7 a +12 pontos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269480" y="2382521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Especificidade na lavoura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269480" y="2677161"/>
            <a:ext cx="41033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Nas três CNNs. Menos falso alarme.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064375" y="3254375"/>
            <a:ext cx="4311650" cy="1685290"/>
          </a:xfrm>
          <a:prstGeom prst="roundRect">
            <a:avLst>
              <a:gd fmla="val 5840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269480" y="3459482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Troca, não ganho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269480" y="4013200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Sensibilidade cai de 2 a 5 pontos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269480" y="4307839"/>
            <a:ext cx="401848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 imagem, o ciclo 4 acerta mais; o ViT quase não muda.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979200" y="6238239"/>
            <a:ext cx="4000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Calibração: onde ela vale</a:t>
            </a:r>
            <a:endParaRPr sz="3600"/>
          </a:p>
        </p:txBody>
      </p:sp>
      <p:sp>
        <p:nvSpPr>
          <p:cNvPr id="140" name="Google Shape;140;p6"/>
          <p:cNvSpPr/>
          <p:nvPr/>
        </p:nvSpPr>
        <p:spPr>
          <a:xfrm>
            <a:off x="815975" y="2117725"/>
            <a:ext cx="3380264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71880" y="2373632"/>
            <a:ext cx="295450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2F6B4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0,003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71880" y="3313432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ECE na validação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71880" y="3658871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Temperatura ajustada e τ = 0,85, com 98,9% de cobertura.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405789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661694" y="2373632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 &lt; 1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661694" y="3313432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calibração sobe a confiança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661694" y="3658871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T de 0,55 a 0,68 nos oito modelos, efeito do label smoothing.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995682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251587" y="2373632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0,146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251587" y="3313432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ECE em campo, ciclo 4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251587" y="3658871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 temperatura, 0,094. No ciclo 5: 0,091 com e 0,125 sem.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12800" y="514350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calibração vale onde foi ajustada. Em campo, os erros saíram com confiança de 0,95 a 0,999.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0979200" y="6238239"/>
            <a:ext cx="400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itoVision — Seminário 2">
  <a:themeElements>
    <a:clrScheme name="FitoVision — Seminário 2">
      <a:dk1>
        <a:srgbClr val="12241B"/>
      </a:dk1>
      <a:lt1>
        <a:srgbClr val="F6F4EC"/>
      </a:lt1>
      <a:dk2>
        <a:srgbClr val="4B584F"/>
      </a:dk2>
      <a:lt2>
        <a:srgbClr val="DFDFD7"/>
      </a:lt2>
      <a:accent1>
        <a:srgbClr val="A84D14"/>
      </a:accent1>
      <a:accent2>
        <a:srgbClr val="2F6B47"/>
      </a:accent2>
      <a:accent3>
        <a:srgbClr val="F0A35E"/>
      </a:accent3>
      <a:accent4>
        <a:srgbClr val="F6DCC8"/>
      </a:accent4>
      <a:accent5>
        <a:srgbClr val="1D4A30"/>
      </a:accent5>
      <a:accent6>
        <a:srgbClr val="7A340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toVision — Seminário 2">
  <a:themeElements>
    <a:clrScheme name="FitoVision — Seminário 2">
      <a:dk1>
        <a:srgbClr val="12241B"/>
      </a:dk1>
      <a:lt1>
        <a:srgbClr val="F6F4EC"/>
      </a:lt1>
      <a:dk2>
        <a:srgbClr val="4B584F"/>
      </a:dk2>
      <a:lt2>
        <a:srgbClr val="DFDFD7"/>
      </a:lt2>
      <a:accent1>
        <a:srgbClr val="A84D14"/>
      </a:accent1>
      <a:accent2>
        <a:srgbClr val="2F6B47"/>
      </a:accent2>
      <a:accent3>
        <a:srgbClr val="F0A35E"/>
      </a:accent3>
      <a:accent4>
        <a:srgbClr val="F6DCC8"/>
      </a:accent4>
      <a:accent5>
        <a:srgbClr val="1D4A30"/>
      </a:accent5>
      <a:accent6>
        <a:srgbClr val="7A340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2026-10-08T21:01:25Z</dcterms:created>
</cp:coreProperties>
</file>