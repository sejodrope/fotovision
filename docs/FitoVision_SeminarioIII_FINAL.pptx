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673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EfficientNet-B0</c:v>
                  </c:pt>
                  <c:pt idx="1">
                    <c:v>MobileNetV2</c:v>
                  </c:pt>
                  <c:pt idx="2">
                    <c:v>ResNet-50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99.01</c:v>
                </c:pt>
                <c:pt idx="1">
                  <c:v>98.81</c:v>
                </c:pt>
                <c:pt idx="2">
                  <c:v>98.71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 (%)</c:v>
                </c:pt>
              </c:strCache>
            </c:strRef>
          </c:tx>
          <c:spPr>
            <a:solidFill>
              <a:srgbClr val="4A9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EfficientNet-B0</c:v>
                  </c:pt>
                  <c:pt idx="1">
                    <c:v>MobileNetV2</c:v>
                  </c:pt>
                  <c:pt idx="2">
                    <c:v>ResNet-50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98.89</c:v>
                </c:pt>
                <c:pt idx="1">
                  <c:v>98.67</c:v>
                </c:pt>
                <c:pt idx="2">
                  <c:v>98.56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7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EfficientNet-B0</c:v>
                  </c:pt>
                  <c:pt idx="1">
                    <c:v>MobileNetV2</c:v>
                  </c:pt>
                  <c:pt idx="2">
                    <c:v>ResNet-50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</c:v>
                </c:pt>
                <c:pt idx="1">
                  <c:v>179</c:v>
                </c:pt>
                <c:pt idx="2">
                  <c:v>215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Shape 1"/>
          <p:cNvSpPr/>
          <p:nvPr/>
        </p:nvSpPr>
        <p:spPr>
          <a:xfrm>
            <a:off x="6995160" y="0"/>
            <a:ext cx="2148840" cy="5143500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🌿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FitoVision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Automática de Anomalias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Fitossanitárias em Hortaliças Folhosas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5303520" cy="36576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8716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· Transfer Learning · Grad-CAM · Classificação Binária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 III — TCC-I  |  UNIVILLE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Pedro  ·  Orientador: Prof. Laurindo Vilonga Dumba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1691640" cy="1097280"/>
          </a:xfrm>
          <a:prstGeom prst="rect">
            <a:avLst/>
          </a:prstGeom>
          <a:solidFill>
            <a:srgbClr val="2673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749040"/>
            <a:ext cx="1691640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43616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3703320"/>
            <a:ext cx="1691640" cy="1097280"/>
          </a:xfrm>
          <a:prstGeom prst="rect">
            <a:avLst/>
          </a:prstGeom>
          <a:solidFill>
            <a:srgbClr val="4A9E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48840" y="3749040"/>
            <a:ext cx="1691640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48840" y="43616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3703320"/>
            <a:ext cx="1691640" cy="109728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3749040"/>
            <a:ext cx="1691640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210.832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931920" y="43616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3703320"/>
            <a:ext cx="1005840" cy="1097280"/>
          </a:xfrm>
          <a:prstGeom prst="rect">
            <a:avLst/>
          </a:prstGeom>
          <a:solidFill>
            <a:srgbClr val="0F6E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3749040"/>
            <a:ext cx="1005840" cy="6364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715000" y="43616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agrícola brasileiro · 77% estabelecimentos rurais = agricultura familiar (IBGE, 2019)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6634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515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4297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estabelecimentos rurais brasileiros são de agricultura familiar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fitossanitário por inspeção visual: lento, inconsistente e oneroso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sem acesso regular a especialistas agrônomos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Joinville e Sul do Brasil: região com alta produção de folhosas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por doenças não diagnosticadas impactam a segurança alimentar regional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" y="391363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Culturas-Alvo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4160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 · Rúcula · Espinafre · Acelga · Couve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987552"/>
            <a:ext cx="1188720" cy="393192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0299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visual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sujeita a erros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987552"/>
            <a:ext cx="1188720" cy="393192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0299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lento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crítico perdido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0" y="987552"/>
            <a:ext cx="1188720" cy="39319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1097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680960" y="1737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FitoVision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0299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· 25ms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D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FitoVision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· FastAPI + React 19 · EfficientNet-B0 · Grad-CAM · SQLite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01952" cy="1508760"/>
          </a:xfrm>
          <a:prstGeom prst="rect">
            <a:avLst/>
          </a:prstGeom>
          <a:solidFill>
            <a:srgbClr val="2673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JPG/PNG/WebP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10 MB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21992" y="14173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735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1005840"/>
            <a:ext cx="1901952" cy="1508760"/>
          </a:xfrm>
          <a:prstGeom prst="rect">
            <a:avLst/>
          </a:prstGeom>
          <a:solidFill>
            <a:srgbClr val="2673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051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9933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· Norm.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87952" y="14173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735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1960" y="1005840"/>
            <a:ext cx="1901952" cy="150876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51960" y="1051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251960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19933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5,3M params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· AMP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53912" y="141732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735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1901952" cy="1508760"/>
          </a:xfrm>
          <a:prstGeom prst="rect">
            <a:avLst/>
          </a:prstGeom>
          <a:solidFill>
            <a:srgbClr val="2673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0515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16642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9933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Gauge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Grad-CAM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33472"/>
            <a:ext cx="3886200" cy="1508760"/>
          </a:xfrm>
          <a:prstGeom prst="rect">
            <a:avLst/>
          </a:prstGeom>
          <a:solidFill>
            <a:srgbClr val="1A2E2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679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da 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944368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"label": "anomalous",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0.991,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"healthy_prob": 0.009,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"gradcam_image": "&lt;base64 PNG&gt;"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15968" y="2633472"/>
            <a:ext cx="1508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15968" y="269748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15968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16168" y="2633472"/>
            <a:ext cx="1508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16168" y="269748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16168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16368" y="2633472"/>
            <a:ext cx="1508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516368" y="269748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16368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5968" y="3438144"/>
            <a:ext cx="1508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15968" y="350215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15968" y="38404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16168" y="3438144"/>
            <a:ext cx="15087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16168" y="350215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3050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16168" y="38404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15968" y="4251960"/>
            <a:ext cx="4800600" cy="658368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389120" y="4251960"/>
            <a:ext cx="4654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Cenário-alvo: produtor tira foto com smartphone → diagnóstico em &lt; 1 segundo + mapa Grad-CAM mostrando por que o sistema tomou a decisão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210.832 imagens · 4 fontes Kaggle · Split 70/15/15 estratificado · seed=42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2519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371600"/>
          <a:ext cx="3977640" cy="2011680"/>
        </p:xfrm>
        <a:graphic>
          <a:graphicData uri="http://schemas.openxmlformats.org/drawingml/2006/table">
            <a:tbl>
              <a:tblPr/>
              <a:tblGrid>
                <a:gridCol w="27889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(Kaggle)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 Diseases (ashishjstar)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Lettuce Multi-Transform (shuvoku)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Diseases Training (nirmal)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210.832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438144"/>
            <a:ext cx="4251960" cy="475488"/>
          </a:xfrm>
          <a:prstGeom prst="rect">
            <a:avLst/>
          </a:prstGeom>
          <a:solidFill>
            <a:srgbClr val="FEF9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347472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Roboflow (20 datasets) descartado — todos de object detection (bounding box), inutilizáveis para classificação. Decisão baseada em evidência experimental.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39776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&amp; Split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270248"/>
            <a:ext cx="4251960" cy="41148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" y="4270248"/>
            <a:ext cx="1424407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3159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 71.052 (33,5%)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4718304"/>
            <a:ext cx="4251960" cy="27432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5" name="Shape 12"/>
          <p:cNvSpPr/>
          <p:nvPr/>
        </p:nvSpPr>
        <p:spPr>
          <a:xfrm>
            <a:off x="320040" y="4718304"/>
            <a:ext cx="2827553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473659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Anômalo 139.780 (66,5%) — WeightedRandomSampler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87552"/>
          <a:ext cx="4114800" cy="169164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Anômalo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 (70%)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147.582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(15%)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(15%)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no Treino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70916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RandomResizedCrop(224, scale=0.7–1.0)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09160" y="3410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RandomHorizontalFlip + VerticalFlip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09160" y="37581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ColorJitter (brightness, contrast, saturation, hue)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09160" y="41056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RandomRotation(±30°)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09160" y="4453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Normalização ImageNet (mean/std)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— 3 Arquiteturas Avaliadas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· AdamW (Loshchilov &amp; Hutter, 2019) · CosineAnnealingLR · 30 épocas · ViT-B/16 → TCC-II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88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788920" cy="475488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3,4M parâmetros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Sandler et al., 2018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606040" cy="27432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2359152"/>
            <a:ext cx="2569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 · bottleneck invertido · projetado para mobile e edge AI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4408" y="987552"/>
            <a:ext cx="2788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987552"/>
            <a:ext cx="2788920" cy="47548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0058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5,3M parâmetros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55848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&amp; Le, 2019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2286000"/>
            <a:ext cx="2606040" cy="27432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8" name="Text 16"/>
          <p:cNvSpPr/>
          <p:nvPr/>
        </p:nvSpPr>
        <p:spPr>
          <a:xfrm>
            <a:off x="3374136" y="2359152"/>
            <a:ext cx="2569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(profundidade + largura + resolução) · melhor acurácia/parâmetro no ImageNet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8776" y="987552"/>
            <a:ext cx="278892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987552"/>
            <a:ext cx="2788920" cy="475488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21" name="Text 19"/>
          <p:cNvSpPr/>
          <p:nvPr/>
        </p:nvSpPr>
        <p:spPr>
          <a:xfrm>
            <a:off x="6208776" y="10058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15361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25,6M parâmetros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0216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al., 2016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0216" y="2286000"/>
            <a:ext cx="2606040" cy="27432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25" name="Text 23"/>
          <p:cNvSpPr/>
          <p:nvPr/>
        </p:nvSpPr>
        <p:spPr>
          <a:xfrm>
            <a:off x="6318504" y="2359152"/>
            <a:ext cx="25694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· resolve vanishing gradient · referência clássica em Transfer Learning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590288"/>
            <a:ext cx="8503920" cy="365760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" y="4590288"/>
            <a:ext cx="8357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comum: 30 épocas · AdamW lr=1e-3 wd=1e-4 · CosineAnnealingLR · AMP float16 · CrossEntropy label_smoothing=0.1 · Early stopping p=10 · RTX 3050 CUDA 12.3 · seed=42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Comparativo Final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31.625 imagens nunca vistas · EfficientNet-B0: melhor em todas as métricas · Confirma Tan &amp; Le (2019)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1828800"/>
        </p:xfrm>
        <a:graphic>
          <a:graphicData uri="http://schemas.openxmlformats.org/drawingml/2006/table">
            <a:tbl>
              <a:tblPr/>
              <a:tblGrid>
                <a:gridCol w="2148840"/>
                <a:gridCol w="868680"/>
                <a:gridCol w="1051560"/>
                <a:gridCol w="1051560"/>
                <a:gridCol w="960120"/>
                <a:gridCol w="123444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871216"/>
            <a:ext cx="8503920" cy="475488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3192" y="2871216"/>
            <a:ext cx="8357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Critério TCC: F1 Macro ≥ 0,85  →  98,89%  (+13,89 pp) · ResNet-50 com 4,8× mais parâmetros ficou em último: compound scaling é mais eficiente (Tan &amp; Le, 2019)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3401568"/>
          <a:ext cx="850392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— Grad-CAM · Folhas Anômalas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 (Selvaraju et al., 2017) · 3 modelos × 4 imagens · classificação correta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8503920" cy="3502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361688"/>
            <a:ext cx="164592" cy="182880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" y="4352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1: MobileNetV2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4617720"/>
            <a:ext cx="164592" cy="18288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4608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2: EfficientNet-B0 (produção)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4873752"/>
            <a:ext cx="164592" cy="1828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" y="4864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3: ResNet-50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0" y="4315968"/>
            <a:ext cx="5166360" cy="749808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49040" y="435254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EfficientNet-B0 (linha 2): </a:t>
            </a:r>
            <a:pPr indent="0" marL="0">
              <a:buNone/>
            </a:pPr>
            <a:r>
              <a:rPr lang="en-US" sz="10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ativações quentes concentradas nas lesões · maior precisão regional · menor FN (138)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49040" y="464515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ResNet-50 (linha 3): </a:t>
            </a:r>
            <a:pPr indent="0" marL="0">
              <a:buNone/>
            </a:pPr>
            <a:r>
              <a:rPr lang="en-US" sz="10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ativações mais dispersas em algumas imagens · consistente com desempenho inferior (215 FN)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Folhas Saudáveis — Validação do Aprendizado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ativam textura foliar difusa — correto, pois não há lesão localizada para identificar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8503920" cy="3502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361688"/>
            <a:ext cx="164592" cy="182880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" y="4352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1: MobileNetV2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4617720"/>
            <a:ext cx="164592" cy="18288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" y="4608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2: EfficientNet-B0 (produção)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4873752"/>
            <a:ext cx="164592" cy="1828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" y="4864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3: ResNet-50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0" y="4315968"/>
            <a:ext cx="5166360" cy="749808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49040" y="4334256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Folhas saudáveis: </a:t>
            </a:r>
            <a:pPr indent="0" marL="0">
              <a:buNone/>
            </a:pPr>
            <a:r>
              <a:rPr lang="en-US" sz="10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frios/difusos — esperado, sem região de lesão específica para ativar. Confirma que o modelo aprendeu features de textura foliar global, não artefatos de fundo.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49040" y="468172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MobileNetV2 linha 2 (63%): </a:t>
            </a:r>
            <a:pPr indent="0" marL="0">
              <a:buNone/>
            </a:pPr>
            <a:r>
              <a:rPr lang="en-US" sz="10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mais baixa em folha com iluminação lateral atípica — coerente com menor robustez a variações de campo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Falsos Negativos — Análise do Domain Gap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Anômala classificada como Saudável · 3 modelos · Achado científico: confirma seção 2.6 do TCC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04672"/>
            <a:ext cx="502920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804672"/>
            <a:ext cx="333756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96128" y="868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esses erros revelam?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96128" y="1261872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9" name="Text 6"/>
          <p:cNvSpPr/>
          <p:nvPr/>
        </p:nvSpPr>
        <p:spPr>
          <a:xfrm>
            <a:off x="5596128" y="1261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71616" y="1271016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fora do domínio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71616" y="1481328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folhas dos FN são de mandioca/plantas compostas — morfologia muito diferente das folhosas do treino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96128" y="2011680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3" name="Text 10"/>
          <p:cNvSpPr/>
          <p:nvPr/>
        </p:nvSpPr>
        <p:spPr>
          <a:xfrm>
            <a:off x="5596128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71616" y="202082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 confirmado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71616" y="223113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 em estúdio falham em condições de campo reais — exatamente o problema da seção 2.6 do TCC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96128" y="2761488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7" name="Text 14"/>
          <p:cNvSpPr/>
          <p:nvPr/>
        </p:nvSpPr>
        <p:spPr>
          <a:xfrm>
            <a:off x="5596128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71616" y="277063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baixa (52–86%)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71616" y="2980944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"hesitam" nos FN — confiança muito menor que nos acertos (94–99%). Threshold pode mitigar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96128" y="3511296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21" name="Text 18"/>
          <p:cNvSpPr/>
          <p:nvPr/>
        </p:nvSpPr>
        <p:spPr>
          <a:xfrm>
            <a:off x="5596128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071616" y="3520440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científico válido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71616" y="3730752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empiricamente a necessidade de coleta local em Joinville (TCC-II) para validação real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4279392"/>
            <a:ext cx="3337560" cy="777240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559552" y="4279392"/>
            <a:ext cx="3191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Grad-CAM transforma erros em aprendizado científico — cada FN justifica a coleta local de imagens em campo prevista para o TCC-II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— Por que EfficientNet-B0 venceu?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tem 4,8× mais parâmetros e treinou 41% a mais — e ficou em último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7548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515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Justificativas para o Modelo de Produção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417320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14264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Accuracy e F1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6642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99,01% accuracy · 98,89% F1 macro — superior em todos os indicadores avaliados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221992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223113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FN — mais crítico agronômico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24688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FN vs 179 (MobileNetV2) vs 215 (ResNet-50) — doença não detectada = perda real na lavoura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026664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303580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empiricamente Tan &amp; Le (2019)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32735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5,3M params vs 25,6M (4,8×) com acurácia superior — compound scaling &gt; profundidade pura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831336"/>
            <a:ext cx="384048" cy="384048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0976" y="38404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41% mais rápido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" y="407822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6,46h vs 11,03h do ResNet-50 · Menor tempo e uso de VRAM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987552"/>
            <a:ext cx="35661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94960" y="1051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— EfficientNet-B0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344168"/>
          <a:ext cx="3291840" cy="1901952"/>
        </p:xfrm>
        <a:graphic>
          <a:graphicData uri="http://schemas.openxmlformats.org/drawingml/2006/table">
            <a:tbl>
              <a:tblPr/>
              <a:tblGrid>
                <a:gridCol w="777240"/>
                <a:gridCol w="1234440"/>
                <a:gridCol w="12801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735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98,01%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257800" y="3337560"/>
            <a:ext cx="35661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394960" y="3401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 por Modelo</a:t>
            </a:r>
            <a:endParaRPr lang="en-US" sz="11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303520" y="3657600"/>
          <a:ext cx="35204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 — MVP: Interface Web FitoVision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· FastAPI + React 19 · Grad-CAM viewer · Histórico SQLite · &lt; 25 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65760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515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417320"/>
            <a:ext cx="438912" cy="438912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6642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JPG/PNG/WebP · máx. 10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ou click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176272"/>
            <a:ext cx="438912" cy="438912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176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1854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/api/predict/gradcam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423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valida tipo e tamanho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label + confiança + heatmap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2935224"/>
            <a:ext cx="438912" cy="438912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935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· Softmax · Grad-CAM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base64 PNG do mapa de calor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694176"/>
            <a:ext cx="438912" cy="438912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694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3703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na tela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39410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SVG animado + barras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overlay Grad-CAM na imagem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9875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da Interface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26280" y="13350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Strip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57276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99,01% · 210.832 imagens · Modelo ativo EfficientNet-B0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192938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SVG animado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21671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(ease-out 0,7s) · verde=saudável / vermelho=anômalo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0" y="25146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6280" y="252374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viewer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276148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heatmap em tempo real via POST /api/predict/gradcam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31089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26280" y="31181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probabilidade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26280" y="335584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 (verde) + Anômala (vermelho) por classe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0" y="37033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26280" y="37124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SQLite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395020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GET/DELETE /api/history/ · persistência async de diagnósticos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0" y="4315968"/>
            <a:ext cx="4709160" cy="713232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87952" y="4315968"/>
            <a:ext cx="4562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Cenário-alvo: produtor tira foto com smartphone → diagnóstico automático em &lt; 1 segundo + mapa visual mostrando onde o modelo detectou a anomalia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a Literatura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FitoVision competitivo com estado da arte · dataset próprio multi-fonte · contexto brasileiro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219456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2148840"/>
                <a:gridCol w="12344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Mohanty et al. (2016)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classes plantas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et al.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Multi-classe CNNs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Atila et al.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classes doenças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FitoVision — EfficientNet-B0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Binário (folhosas)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Multi-fonte 210k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C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FitoVision — 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Multi-fonte 210k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246120"/>
            <a:ext cx="8503920" cy="502920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93192" y="3246120"/>
            <a:ext cx="8357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Critério MVP (Cap. 4): F1 macro ≥ 0,85  →  98,89% (+13,89 pp)  |  Generalização confirmada: val_acc ≈ test_acc (Δ máx. 0,05 pp)  |  Grad-CAM valida foco nas lesões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0040" y="38221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7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&amp; Mitigações (TCC-II)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41330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Dataset proxy: PlantVillage sem alface/rúcula → coleta local em Joinville no TCC-II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45152" y="413308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Domain gap: FN revelam falha em imagens de campo → validação com agricultores locais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" y="46085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ViT-B/16: RTX 3050 (6GB) inviável (45–75h/exec, OOM) → Google Colab Pro no TCC-II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45152" y="46085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CPU latência: Medições em GPU → avaliar ONNX/TorchLite para mobile sem GPU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— TCC-II (2026/2)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para o próximo semestre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43200" cy="41148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0698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Coleta Local — Joinville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em hortas/estufas da região → validação com contexto agrícola brasileiro real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24128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24128"/>
            <a:ext cx="2743200" cy="411480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10698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Grad-CAM em Produção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8132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implementado — ativar overlay no frontend e documentar análise completa na monografia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024128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24128"/>
            <a:ext cx="2743200" cy="4114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1069848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ViT-B/16 — TCC-II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48132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3050 6GB → 45–75h por execução, risco OOM. Previsto com Colab Pro ou GPU maior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274320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29260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Classificação Multi-classe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de binário para tipo específico: míldio, oídio, clorose, pragas...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29260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Deployment Mobile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33756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TorchLite para inferência sem GPU — cenário real do agricultor com smartphone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88036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880360"/>
            <a:ext cx="2743200" cy="41148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2" y="2926080"/>
            <a:ext cx="2596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Artigo Científico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33756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metodologia e resultados do comparativo completo para publicação após defesa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67350"/>
          </a:solidFill>
          <a:ln/>
        </p:spPr>
      </p:sp>
      <p:sp>
        <p:nvSpPr>
          <p:cNvPr id="3" name="Shape 1"/>
          <p:cNvSpPr/>
          <p:nvPr/>
        </p:nvSpPr>
        <p:spPr>
          <a:xfrm>
            <a:off x="6995160" y="0"/>
            <a:ext cx="2148840" cy="5143500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🌿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FitoVision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automática · Transfer Learning · Grad-CAM · Interface web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5303520" cy="36576"/>
          </a:xfrm>
          <a:prstGeom prst="rect">
            <a:avLst/>
          </a:prstGeom>
          <a:solidFill>
            <a:srgbClr val="4A9E6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240280"/>
            <a:ext cx="1664208" cy="1188720"/>
          </a:xfrm>
          <a:prstGeom prst="rect">
            <a:avLst/>
          </a:prstGeom>
          <a:solidFill>
            <a:srgbClr val="2673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286000"/>
            <a:ext cx="1664208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953512"/>
            <a:ext cx="1664208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2240280"/>
            <a:ext cx="1664208" cy="1188720"/>
          </a:xfrm>
          <a:prstGeom prst="rect">
            <a:avLst/>
          </a:prstGeom>
          <a:solidFill>
            <a:srgbClr val="4A9E6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2286000"/>
            <a:ext cx="1664208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21408" y="2953512"/>
            <a:ext cx="1664208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77056" y="2240280"/>
            <a:ext cx="1664208" cy="1188720"/>
          </a:xfrm>
          <a:prstGeom prst="rect">
            <a:avLst/>
          </a:prstGeom>
          <a:solidFill>
            <a:srgbClr val="1A5C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2286000"/>
            <a:ext cx="1664208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77056" y="2953512"/>
            <a:ext cx="1664208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mínimo (EfficientNet)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mapas Grad-CAM gerados · 3 modelos · domain gap identificado e documentado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8221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critério: ≥ 0,85  →  98,89%  (+13,89 pp acima)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6217920" cy="27432"/>
          </a:xfrm>
          <a:prstGeom prst="rect">
            <a:avLst/>
          </a:prstGeom>
          <a:solidFill>
            <a:srgbClr val="2D7D5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27939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Pedro  ·  UNIVILLE Engenharia de Software  ·  TCC-I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5354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Laurindo Vilonga Dumba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FitoVision — Seminário III TCC-I UNIVILLE 2026</dc:title>
  <dc:subject>PptxGenJS Presentation</dc:subject>
  <dc:creator>José Pedro</dc:creator>
  <cp:lastModifiedBy>José Pedro</cp:lastModifiedBy>
  <cp:revision>1</cp:revision>
  <dcterms:created xsi:type="dcterms:W3CDTF">2026-06-07T00:18:50Z</dcterms:created>
  <dcterms:modified xsi:type="dcterms:W3CDTF">2026-06-07T00:18:50Z</dcterms:modified>
</cp:coreProperties>
</file>